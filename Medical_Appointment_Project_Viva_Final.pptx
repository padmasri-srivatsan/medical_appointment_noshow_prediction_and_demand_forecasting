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Missing values</c:v>
          </c:tx>
          <c:spPr>
            <a:solidFill>
              <a:srgbClr val="087F83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14313C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Age</c:v>
                </c:pt>
                <c:pt idx="1">
                  <c:v>Specialty</c:v>
                </c:pt>
                <c:pt idx="2">
                  <c:v>Disability</c:v>
                </c:pt>
                <c:pt idx="3">
                  <c:v>Place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0.20950242999999999</c:v>
                </c:pt>
                <c:pt idx="1">
                  <c:v>0.18365223999999999</c:v>
                </c:pt>
                <c:pt idx="2">
                  <c:v>0.15147864999999999</c:v>
                </c:pt>
                <c:pt idx="3">
                  <c:v>0.10528957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35-2547-893A-ACE82D3530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6E3E5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b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05"/>
      </c:valAx>
      <c:spPr>
        <a:solidFill>
          <a:srgbClr val="F8FAFB"/>
        </a:solidFill>
      </c:spPr>
    </c:plotArea>
    <c:plotVisOnly val="1"/>
    <c:dispBlanksAs val="zero"/>
    <c:showDLblsOverMax val="1"/>
  </c:chart>
  <c:spPr>
    <a:solidFill>
      <a:srgbClr val="F8FAFB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Actual bookings</c:v>
          </c:tx>
          <c:spPr>
            <a:ln w="23813">
              <a:solidFill>
                <a:srgbClr val="0B2430"/>
              </a:solidFill>
            </a:ln>
          </c:spPr>
          <c:marker>
            <c:symbol val="none"/>
          </c:marker>
          <c:xVal>
            <c:numRef>
              <c:f>'Chart Data'!$A$2:$A$57</c:f>
              <c:numCache>
                <c:formatCode>General</c:formatCode>
                <c:ptCount val="56"/>
                <c:pt idx="0">
                  <c:v>44273</c:v>
                </c:pt>
                <c:pt idx="1">
                  <c:v>44274</c:v>
                </c:pt>
                <c:pt idx="2">
                  <c:v>44275</c:v>
                </c:pt>
                <c:pt idx="3">
                  <c:v>44276</c:v>
                </c:pt>
                <c:pt idx="4">
                  <c:v>44277</c:v>
                </c:pt>
                <c:pt idx="5">
                  <c:v>44278</c:v>
                </c:pt>
                <c:pt idx="6">
                  <c:v>44279</c:v>
                </c:pt>
                <c:pt idx="7">
                  <c:v>44280</c:v>
                </c:pt>
                <c:pt idx="8">
                  <c:v>44281</c:v>
                </c:pt>
                <c:pt idx="9">
                  <c:v>44282</c:v>
                </c:pt>
                <c:pt idx="10">
                  <c:v>44283</c:v>
                </c:pt>
                <c:pt idx="11">
                  <c:v>44284</c:v>
                </c:pt>
                <c:pt idx="12">
                  <c:v>44285</c:v>
                </c:pt>
                <c:pt idx="13">
                  <c:v>44286</c:v>
                </c:pt>
                <c:pt idx="14">
                  <c:v>44287</c:v>
                </c:pt>
                <c:pt idx="15">
                  <c:v>44288</c:v>
                </c:pt>
                <c:pt idx="16">
                  <c:v>44289</c:v>
                </c:pt>
                <c:pt idx="17">
                  <c:v>44290</c:v>
                </c:pt>
                <c:pt idx="18">
                  <c:v>44291</c:v>
                </c:pt>
                <c:pt idx="19">
                  <c:v>44292</c:v>
                </c:pt>
                <c:pt idx="20">
                  <c:v>44293</c:v>
                </c:pt>
                <c:pt idx="21">
                  <c:v>44294</c:v>
                </c:pt>
                <c:pt idx="22">
                  <c:v>44295</c:v>
                </c:pt>
                <c:pt idx="23">
                  <c:v>44296</c:v>
                </c:pt>
                <c:pt idx="24">
                  <c:v>44297</c:v>
                </c:pt>
                <c:pt idx="25">
                  <c:v>44298</c:v>
                </c:pt>
                <c:pt idx="26">
                  <c:v>44299</c:v>
                </c:pt>
                <c:pt idx="27">
                  <c:v>44300</c:v>
                </c:pt>
                <c:pt idx="28">
                  <c:v>44301</c:v>
                </c:pt>
                <c:pt idx="29">
                  <c:v>44302</c:v>
                </c:pt>
                <c:pt idx="30">
                  <c:v>44303</c:v>
                </c:pt>
                <c:pt idx="31">
                  <c:v>44304</c:v>
                </c:pt>
                <c:pt idx="32">
                  <c:v>44305</c:v>
                </c:pt>
                <c:pt idx="33">
                  <c:v>44306</c:v>
                </c:pt>
                <c:pt idx="34">
                  <c:v>44307</c:v>
                </c:pt>
                <c:pt idx="35">
                  <c:v>44308</c:v>
                </c:pt>
                <c:pt idx="36">
                  <c:v>44309</c:v>
                </c:pt>
                <c:pt idx="37">
                  <c:v>44310</c:v>
                </c:pt>
                <c:pt idx="38">
                  <c:v>44311</c:v>
                </c:pt>
                <c:pt idx="39">
                  <c:v>44312</c:v>
                </c:pt>
                <c:pt idx="40">
                  <c:v>44313</c:v>
                </c:pt>
                <c:pt idx="41">
                  <c:v>44314</c:v>
                </c:pt>
                <c:pt idx="42">
                  <c:v>44315</c:v>
                </c:pt>
                <c:pt idx="43">
                  <c:v>44316</c:v>
                </c:pt>
                <c:pt idx="44">
                  <c:v>44317</c:v>
                </c:pt>
                <c:pt idx="45">
                  <c:v>44318</c:v>
                </c:pt>
                <c:pt idx="46">
                  <c:v>44319</c:v>
                </c:pt>
                <c:pt idx="47">
                  <c:v>44320</c:v>
                </c:pt>
                <c:pt idx="48">
                  <c:v>44321</c:v>
                </c:pt>
                <c:pt idx="49">
                  <c:v>44322</c:v>
                </c:pt>
                <c:pt idx="50">
                  <c:v>44323</c:v>
                </c:pt>
                <c:pt idx="51">
                  <c:v>44324</c:v>
                </c:pt>
                <c:pt idx="52">
                  <c:v>44325</c:v>
                </c:pt>
                <c:pt idx="53">
                  <c:v>44326</c:v>
                </c:pt>
                <c:pt idx="54">
                  <c:v>44327</c:v>
                </c:pt>
                <c:pt idx="55">
                  <c:v>44328</c:v>
                </c:pt>
              </c:numCache>
            </c:numRef>
          </c:xVal>
          <c:yVal>
            <c:numRef>
              <c:f>'Chart Data'!$B$2:$B$57</c:f>
              <c:numCache>
                <c:formatCode>0</c:formatCode>
                <c:ptCount val="56"/>
                <c:pt idx="0">
                  <c:v>237</c:v>
                </c:pt>
                <c:pt idx="1">
                  <c:v>125</c:v>
                </c:pt>
                <c:pt idx="2">
                  <c:v>217</c:v>
                </c:pt>
                <c:pt idx="3">
                  <c:v>5</c:v>
                </c:pt>
                <c:pt idx="4">
                  <c:v>48</c:v>
                </c:pt>
                <c:pt idx="5">
                  <c:v>667</c:v>
                </c:pt>
                <c:pt idx="6">
                  <c:v>186</c:v>
                </c:pt>
                <c:pt idx="7">
                  <c:v>318</c:v>
                </c:pt>
                <c:pt idx="8">
                  <c:v>182</c:v>
                </c:pt>
                <c:pt idx="9">
                  <c:v>405</c:v>
                </c:pt>
                <c:pt idx="10">
                  <c:v>1</c:v>
                </c:pt>
                <c:pt idx="11">
                  <c:v>985</c:v>
                </c:pt>
                <c:pt idx="12">
                  <c:v>733</c:v>
                </c:pt>
                <c:pt idx="13">
                  <c:v>850</c:v>
                </c:pt>
                <c:pt idx="14">
                  <c:v>829</c:v>
                </c:pt>
                <c:pt idx="15">
                  <c:v>1512</c:v>
                </c:pt>
                <c:pt idx="16">
                  <c:v>1</c:v>
                </c:pt>
                <c:pt idx="17">
                  <c:v>4</c:v>
                </c:pt>
                <c:pt idx="18">
                  <c:v>2</c:v>
                </c:pt>
                <c:pt idx="19">
                  <c:v>1</c:v>
                </c:pt>
                <c:pt idx="20">
                  <c:v>4</c:v>
                </c:pt>
                <c:pt idx="21">
                  <c:v>3</c:v>
                </c:pt>
                <c:pt idx="22">
                  <c:v>1</c:v>
                </c:pt>
                <c:pt idx="23">
                  <c:v>3</c:v>
                </c:pt>
                <c:pt idx="24">
                  <c:v>3</c:v>
                </c:pt>
                <c:pt idx="25">
                  <c:v>4</c:v>
                </c:pt>
                <c:pt idx="26">
                  <c:v>3</c:v>
                </c:pt>
                <c:pt idx="27">
                  <c:v>1</c:v>
                </c:pt>
                <c:pt idx="28">
                  <c:v>1</c:v>
                </c:pt>
                <c:pt idx="29">
                  <c:v>2</c:v>
                </c:pt>
                <c:pt idx="30">
                  <c:v>3</c:v>
                </c:pt>
                <c:pt idx="31">
                  <c:v>2</c:v>
                </c:pt>
                <c:pt idx="32">
                  <c:v>2</c:v>
                </c:pt>
                <c:pt idx="33">
                  <c:v>1</c:v>
                </c:pt>
                <c:pt idx="34">
                  <c:v>1</c:v>
                </c:pt>
                <c:pt idx="35">
                  <c:v>4</c:v>
                </c:pt>
                <c:pt idx="36">
                  <c:v>1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10</c:v>
                </c:pt>
                <c:pt idx="41">
                  <c:v>7</c:v>
                </c:pt>
                <c:pt idx="42">
                  <c:v>1</c:v>
                </c:pt>
                <c:pt idx="43">
                  <c:v>5</c:v>
                </c:pt>
                <c:pt idx="44">
                  <c:v>9</c:v>
                </c:pt>
                <c:pt idx="45">
                  <c:v>9</c:v>
                </c:pt>
                <c:pt idx="46">
                  <c:v>4</c:v>
                </c:pt>
                <c:pt idx="47">
                  <c:v>3</c:v>
                </c:pt>
                <c:pt idx="48">
                  <c:v>2</c:v>
                </c:pt>
                <c:pt idx="49">
                  <c:v>5</c:v>
                </c:pt>
                <c:pt idx="50">
                  <c:v>11</c:v>
                </c:pt>
                <c:pt idx="51">
                  <c:v>1</c:v>
                </c:pt>
                <c:pt idx="52">
                  <c:v>4</c:v>
                </c:pt>
                <c:pt idx="53">
                  <c:v>3</c:v>
                </c:pt>
                <c:pt idx="54">
                  <c:v>11</c:v>
                </c:pt>
                <c:pt idx="55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427-0D48-8DD9-07A5497FA52B}"/>
            </c:ext>
          </c:extLst>
        </c:ser>
        <c:ser>
          <c:idx val="1"/>
          <c:order val="1"/>
          <c:tx>
            <c:v>Forecast</c:v>
          </c:tx>
          <c:spPr>
            <a:ln w="28575">
              <a:solidFill>
                <a:srgbClr val="087F83"/>
              </a:solidFill>
            </a:ln>
          </c:spPr>
          <c:marker>
            <c:symbol val="none"/>
          </c:marker>
          <c:xVal>
            <c:numRef>
              <c:f>'Chart Data'!$C$2:$C$57</c:f>
              <c:numCache>
                <c:formatCode>General</c:formatCode>
                <c:ptCount val="56"/>
                <c:pt idx="0">
                  <c:v>44273</c:v>
                </c:pt>
                <c:pt idx="1">
                  <c:v>44274</c:v>
                </c:pt>
                <c:pt idx="2">
                  <c:v>44275</c:v>
                </c:pt>
                <c:pt idx="3">
                  <c:v>44276</c:v>
                </c:pt>
                <c:pt idx="4">
                  <c:v>44277</c:v>
                </c:pt>
                <c:pt idx="5">
                  <c:v>44278</c:v>
                </c:pt>
                <c:pt idx="6">
                  <c:v>44279</c:v>
                </c:pt>
                <c:pt idx="7">
                  <c:v>44280</c:v>
                </c:pt>
                <c:pt idx="8">
                  <c:v>44281</c:v>
                </c:pt>
                <c:pt idx="9">
                  <c:v>44282</c:v>
                </c:pt>
                <c:pt idx="10">
                  <c:v>44283</c:v>
                </c:pt>
                <c:pt idx="11">
                  <c:v>44284</c:v>
                </c:pt>
                <c:pt idx="12">
                  <c:v>44285</c:v>
                </c:pt>
                <c:pt idx="13">
                  <c:v>44286</c:v>
                </c:pt>
                <c:pt idx="14">
                  <c:v>44287</c:v>
                </c:pt>
                <c:pt idx="15">
                  <c:v>44288</c:v>
                </c:pt>
                <c:pt idx="16">
                  <c:v>44289</c:v>
                </c:pt>
                <c:pt idx="17">
                  <c:v>44290</c:v>
                </c:pt>
                <c:pt idx="18">
                  <c:v>44291</c:v>
                </c:pt>
                <c:pt idx="19">
                  <c:v>44292</c:v>
                </c:pt>
                <c:pt idx="20">
                  <c:v>44293</c:v>
                </c:pt>
                <c:pt idx="21">
                  <c:v>44294</c:v>
                </c:pt>
                <c:pt idx="22">
                  <c:v>44295</c:v>
                </c:pt>
                <c:pt idx="23">
                  <c:v>44296</c:v>
                </c:pt>
                <c:pt idx="24">
                  <c:v>44297</c:v>
                </c:pt>
                <c:pt idx="25">
                  <c:v>44298</c:v>
                </c:pt>
                <c:pt idx="26">
                  <c:v>44299</c:v>
                </c:pt>
                <c:pt idx="27">
                  <c:v>44300</c:v>
                </c:pt>
                <c:pt idx="28">
                  <c:v>44301</c:v>
                </c:pt>
                <c:pt idx="29">
                  <c:v>44302</c:v>
                </c:pt>
                <c:pt idx="30">
                  <c:v>44303</c:v>
                </c:pt>
                <c:pt idx="31">
                  <c:v>44304</c:v>
                </c:pt>
                <c:pt idx="32">
                  <c:v>44305</c:v>
                </c:pt>
                <c:pt idx="33">
                  <c:v>44306</c:v>
                </c:pt>
                <c:pt idx="34">
                  <c:v>44307</c:v>
                </c:pt>
                <c:pt idx="35">
                  <c:v>44308</c:v>
                </c:pt>
                <c:pt idx="36">
                  <c:v>44309</c:v>
                </c:pt>
                <c:pt idx="37">
                  <c:v>44310</c:v>
                </c:pt>
                <c:pt idx="38">
                  <c:v>44311</c:v>
                </c:pt>
                <c:pt idx="39">
                  <c:v>44312</c:v>
                </c:pt>
                <c:pt idx="40">
                  <c:v>44313</c:v>
                </c:pt>
                <c:pt idx="41">
                  <c:v>44314</c:v>
                </c:pt>
                <c:pt idx="42">
                  <c:v>44315</c:v>
                </c:pt>
                <c:pt idx="43">
                  <c:v>44316</c:v>
                </c:pt>
                <c:pt idx="44">
                  <c:v>44317</c:v>
                </c:pt>
                <c:pt idx="45">
                  <c:v>44318</c:v>
                </c:pt>
                <c:pt idx="46">
                  <c:v>44319</c:v>
                </c:pt>
                <c:pt idx="47">
                  <c:v>44320</c:v>
                </c:pt>
                <c:pt idx="48">
                  <c:v>44321</c:v>
                </c:pt>
                <c:pt idx="49">
                  <c:v>44322</c:v>
                </c:pt>
                <c:pt idx="50">
                  <c:v>44323</c:v>
                </c:pt>
                <c:pt idx="51">
                  <c:v>44324</c:v>
                </c:pt>
                <c:pt idx="52">
                  <c:v>44325</c:v>
                </c:pt>
                <c:pt idx="53">
                  <c:v>44326</c:v>
                </c:pt>
                <c:pt idx="54">
                  <c:v>44327</c:v>
                </c:pt>
                <c:pt idx="55">
                  <c:v>44328</c:v>
                </c:pt>
              </c:numCache>
            </c:numRef>
          </c:xVal>
          <c:yVal>
            <c:numRef>
              <c:f>'Chart Data'!$D$2:$D$57</c:f>
              <c:numCache>
                <c:formatCode>0</c:formatCode>
                <c:ptCount val="56"/>
                <c:pt idx="0">
                  <c:v>367.59</c:v>
                </c:pt>
                <c:pt idx="1">
                  <c:v>317.42</c:v>
                </c:pt>
                <c:pt idx="2">
                  <c:v>639.80999999999995</c:v>
                </c:pt>
                <c:pt idx="3">
                  <c:v>47.69</c:v>
                </c:pt>
                <c:pt idx="4">
                  <c:v>167.64</c:v>
                </c:pt>
                <c:pt idx="5">
                  <c:v>232.87</c:v>
                </c:pt>
                <c:pt idx="6">
                  <c:v>240.59</c:v>
                </c:pt>
                <c:pt idx="7">
                  <c:v>252.5</c:v>
                </c:pt>
                <c:pt idx="8">
                  <c:v>207.21</c:v>
                </c:pt>
                <c:pt idx="9">
                  <c:v>211.84</c:v>
                </c:pt>
                <c:pt idx="10">
                  <c:v>24.03</c:v>
                </c:pt>
                <c:pt idx="11">
                  <c:v>54.48</c:v>
                </c:pt>
                <c:pt idx="12">
                  <c:v>580.6</c:v>
                </c:pt>
                <c:pt idx="13">
                  <c:v>272.06</c:v>
                </c:pt>
                <c:pt idx="14">
                  <c:v>401.88</c:v>
                </c:pt>
                <c:pt idx="15">
                  <c:v>324.97000000000003</c:v>
                </c:pt>
                <c:pt idx="16">
                  <c:v>444.73</c:v>
                </c:pt>
                <c:pt idx="17">
                  <c:v>72.47</c:v>
                </c:pt>
                <c:pt idx="18">
                  <c:v>687.09</c:v>
                </c:pt>
                <c:pt idx="19">
                  <c:v>611</c:v>
                </c:pt>
                <c:pt idx="20">
                  <c:v>637.69000000000005</c:v>
                </c:pt>
                <c:pt idx="21">
                  <c:v>575.29</c:v>
                </c:pt>
                <c:pt idx="22">
                  <c:v>782.96</c:v>
                </c:pt>
                <c:pt idx="23">
                  <c:v>8.16</c:v>
                </c:pt>
                <c:pt idx="24">
                  <c:v>33.69</c:v>
                </c:pt>
                <c:pt idx="25">
                  <c:v>16.57</c:v>
                </c:pt>
                <c:pt idx="26">
                  <c:v>44.75</c:v>
                </c:pt>
                <c:pt idx="27">
                  <c:v>54.61</c:v>
                </c:pt>
                <c:pt idx="28">
                  <c:v>38.49</c:v>
                </c:pt>
                <c:pt idx="29">
                  <c:v>65.41</c:v>
                </c:pt>
                <c:pt idx="30">
                  <c:v>47.17</c:v>
                </c:pt>
                <c:pt idx="31">
                  <c:v>36.81</c:v>
                </c:pt>
                <c:pt idx="32">
                  <c:v>50.51</c:v>
                </c:pt>
                <c:pt idx="33">
                  <c:v>43.01</c:v>
                </c:pt>
                <c:pt idx="34">
                  <c:v>56.49</c:v>
                </c:pt>
                <c:pt idx="35">
                  <c:v>21.67</c:v>
                </c:pt>
                <c:pt idx="36">
                  <c:v>32.270000000000003</c:v>
                </c:pt>
                <c:pt idx="37">
                  <c:v>10.97</c:v>
                </c:pt>
                <c:pt idx="38">
                  <c:v>10.55</c:v>
                </c:pt>
                <c:pt idx="39">
                  <c:v>5.27</c:v>
                </c:pt>
                <c:pt idx="40">
                  <c:v>13.21</c:v>
                </c:pt>
                <c:pt idx="41">
                  <c:v>16.11</c:v>
                </c:pt>
                <c:pt idx="42">
                  <c:v>14.95</c:v>
                </c:pt>
                <c:pt idx="43">
                  <c:v>25.58</c:v>
                </c:pt>
                <c:pt idx="44">
                  <c:v>19.22</c:v>
                </c:pt>
                <c:pt idx="45">
                  <c:v>1.43</c:v>
                </c:pt>
                <c:pt idx="46">
                  <c:v>7.09</c:v>
                </c:pt>
                <c:pt idx="47">
                  <c:v>17.350000000000001</c:v>
                </c:pt>
                <c:pt idx="48">
                  <c:v>38.72</c:v>
                </c:pt>
                <c:pt idx="49">
                  <c:v>21.09</c:v>
                </c:pt>
                <c:pt idx="50">
                  <c:v>29.01</c:v>
                </c:pt>
                <c:pt idx="51">
                  <c:v>18.5</c:v>
                </c:pt>
                <c:pt idx="52">
                  <c:v>20.54</c:v>
                </c:pt>
                <c:pt idx="53">
                  <c:v>9.4600000000000009</c:v>
                </c:pt>
                <c:pt idx="54">
                  <c:v>13.49</c:v>
                </c:pt>
                <c:pt idx="55">
                  <c:v>14.67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427-0D48-8DD9-07A5497FA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w="9525">
              <a:solidFill>
                <a:srgbClr val="D6E3E5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44328"/>
          <c:min val="44273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4"/>
      </c:valAx>
      <c:spPr>
        <a:solidFill>
          <a:srgbClr val="F8FAFB"/>
        </a:solidFill>
      </c:spPr>
    </c:plotArea>
    <c:legend>
      <c:legendPos val="b"/>
      <c:overlay val="0"/>
      <c:txPr>
        <a:bodyPr anchorCtr="1"/>
        <a:lstStyle/>
        <a:p>
          <a:pPr>
            <a:defRPr sz="1800">
              <a:solidFill>
                <a:srgbClr val="14313C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8FAFB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My project helps a clinic review missed-appointment risk and plan booked demand.</a:t>
            </a:r>
          </a:p>
          <a:p>
            <a:r>
              <a:t>It combines two models in a simple Python notebook and Streamlit application.</a:t>
            </a:r>
          </a:p>
          <a:p>
            <a:r>
              <a:t>I will explain the decisions, the real outputs, and the measured limitations.</a:t>
            </a:r>
          </a:p>
          <a:p>
            <a:r>
              <a:t>The current results fall short of the requested performance goals.</a:t>
            </a:r>
          </a:p>
          <a:p>
            <a:r>
              <a:t>I will start with the appointment problem that motivated the work.</a:t>
            </a:r>
          </a:p>
          <a:p>
            <a:r>
              <a:t>Source: notebook; app.py; reports/target_status.csv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Imagine a one o'clock appointment that the patient does not attend.</a:t>
            </a:r>
          </a:p>
          <a:p>
            <a:r>
              <a:t>The clinic may lose the chance to use that slot for another patient.</a:t>
            </a:r>
          </a:p>
          <a:p>
            <a:r>
              <a:t>In the supplied data, 34,832 of 109,593 appointments are recorded as no-shows.</a:t>
            </a:r>
          </a:p>
          <a:p>
            <a:r>
              <a:t>Staff need earlier follow-up signals and a better view of future booking counts.</a:t>
            </a:r>
          </a:p>
          <a:p>
            <a:r>
              <a:t>That leads to two related decisions, which the project supports separately.</a:t>
            </a:r>
          </a:p>
          <a:p>
            <a:r>
              <a:t>Source: source CSV; no_show counts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treat the familiar planning methods here as examples, not an audit of this clinic.</a:t>
            </a:r>
          </a:p>
          <a:p>
            <a:r>
              <a:t>For follow-up, the useful change is to rank appointments by estimated no-show risk.</a:t>
            </a:r>
          </a:p>
          <a:p>
            <a:r>
              <a:t>For capacity planning, the useful change is to forecast daily booked demand by specialty.</a:t>
            </a:r>
          </a:p>
          <a:p>
            <a:r>
              <a:t>Clinic staff still decide what action is appropriate and what resources are available.</a:t>
            </a:r>
          </a:p>
          <a:p>
            <a:r>
              <a:t>Before building either model, I need to understand the records and their quality.</a:t>
            </a:r>
          </a:p>
          <a:p>
            <a:r>
              <a:t>Source: notebook Steps 1 and 8; 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file contains 109,593 appointments and 26 recorded fields.</a:t>
            </a:r>
          </a:p>
          <a:p>
            <a:r>
              <a:t>Its continuous calendar covers 498 dates, from January 2020 to May 2021.</a:t>
            </a:r>
          </a:p>
          <a:p>
            <a:r>
              <a:t>Age, specialty, disability, and location all have missing values.</a:t>
            </a:r>
          </a:p>
          <a:p>
            <a:r>
              <a:t>These gaps affect both model inputs and the interpretation of results.</a:t>
            </a:r>
          </a:p>
          <a:p>
            <a:r>
              <a:t>I therefore make the cleaning and exclusion decisions explicit before training.</a:t>
            </a:r>
          </a:p>
          <a:p>
            <a:r>
              <a:t>Source: source CSV; reports/data_dictionary.csv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keep the raw source and work on a separate cleaned table.</a:t>
            </a:r>
          </a:p>
          <a:p>
            <a:r>
              <a:t>Missing inputs are filled inside training pipelines, so future data cannot set the values.</a:t>
            </a:r>
          </a:p>
          <a:p>
            <a:r>
              <a:t>Unverified locations and uncertain weather or SMS timing stay out of advance scoring.</a:t>
            </a:r>
          </a:p>
          <a:p>
            <a:r>
              <a:t>I retain conflicting age flags and identical rows because their true meaning is unresolved.</a:t>
            </a:r>
          </a:p>
          <a:p>
            <a:r>
              <a:t>These choices define what the models can legitimately learn from the file.</a:t>
            </a:r>
          </a:p>
          <a:p>
            <a:r>
              <a:t>Source: notebook Steps 4, 5, 8 and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architecture is intentionally local and small enough to explain end to end.</a:t>
            </a:r>
          </a:p>
          <a:p>
            <a:r>
              <a:t>Pandas prepares records and counts, while scikit-learn and statsmodels fit the models.</a:t>
            </a:r>
          </a:p>
          <a:p>
            <a:r>
              <a:t>Joblib stores the fitted objects, and Streamlit loads them for the two staff workflows.</a:t>
            </a:r>
          </a:p>
          <a:p>
            <a:r>
              <a:t>Matplotlib and seaborn make the data patterns and model errors visible.</a:t>
            </a:r>
          </a:p>
          <a:p>
            <a:r>
              <a:t>The next diagram follows the information through those components.</a:t>
            </a:r>
          </a:p>
          <a:p>
            <a:r>
              <a:t>Source: notebook Steps 2, 10, 12, 17 and 19; 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one appointment, recorded fields pass through the same fitted preprocessing used in training.</a:t>
            </a:r>
          </a:p>
          <a:p>
            <a:r>
              <a:t>A selected classifier and probability adjustment produce the displayed risk and follow-up flag.</a:t>
            </a:r>
          </a:p>
          <a:p>
            <a:r>
              <a:t>For demand, appointments become daily specialty counts before any forecasting takes place.</a:t>
            </a:r>
          </a:p>
          <a:p>
            <a:r>
              <a:t>Selected forecasting methods produce daily estimates and empirical error bands.</a:t>
            </a:r>
          </a:p>
          <a:p>
            <a:r>
              <a:t>I will now explain the two model branches and their validation separately.</a:t>
            </a:r>
          </a:p>
          <a:p>
            <a:r>
              <a:t>Source: notebook Steps 10–19; 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classifier learns to distinguish two recorded outcomes: attendance and no-show.</a:t>
            </a:r>
          </a:p>
          <a:p>
            <a:r>
              <a:t>I compare a simple regression benchmark with two methods that use decision trees.</a:t>
            </a:r>
          </a:p>
          <a:p>
            <a:r>
              <a:t>The comparison includes two small boosting settings rather than a complicated search system.</a:t>
            </a:r>
          </a:p>
          <a:p>
            <a:r>
              <a:t>The small gradient-boosting candidate has the best precision–recall score on selection dates.</a:t>
            </a:r>
          </a:p>
          <a:p>
            <a:r>
              <a:t>Choosing a model is separate from adjusting its probabilities or setting its follow-up threshold.</a:t>
            </a:r>
          </a:p>
          <a:p>
            <a:r>
              <a:t>Source: reports/classifier_selection.csv; notebook Steps 12–13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separate complete dates so that later records cannot influence earlier fitting decisions.</a:t>
            </a:r>
          </a:p>
          <a:p>
            <a:r>
              <a:t>The first 348 dates fit the models, and the next 25 dates compare candidates.</a:t>
            </a:r>
          </a:p>
          <a:p>
            <a:r>
              <a:t>Another 25 dates adjust probabilities, followed by 25 dates for the follow-up threshold.</a:t>
            </a:r>
          </a:p>
          <a:p>
            <a:r>
              <a:t>Only then do I evaluate the frozen classifier on the final 75 dates.</a:t>
            </a:r>
          </a:p>
          <a:p>
            <a:r>
              <a:t>Forecasting follows its own chronological evaluation, with genuine seven-day blocks.</a:t>
            </a:r>
          </a:p>
          <a:p>
            <a:r>
              <a:t>Source: reports/classifier_splits.csv; notebook Steps 9 and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lag is simply a count from an earlier date.</a:t>
            </a:r>
          </a:p>
          <a:p>
            <a:r>
              <a:t>For the next seven days, the seven-day lag always comes from already observed history.</a:t>
            </a:r>
          </a:p>
          <a:p>
            <a:r>
              <a:t>The model also uses older weekly lags, a shifted weekly average, and known calendar fields.</a:t>
            </a:r>
          </a:p>
          <a:p>
            <a:r>
              <a:t>For example, the input for 13 May can use the five bookings recorded on 6 May.</a:t>
            </a:r>
          </a:p>
          <a:p>
            <a:r>
              <a:t>This design avoids feeding unseen actual counts into the seven-day forecast.</a:t>
            </a:r>
          </a:p>
          <a:p>
            <a:r>
              <a:t>Source: source CSV; notebook Step 16; app.py forecast_features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compare three forecasting algorithms with a repeat-last-week baseline.</a:t>
            </a:r>
          </a:p>
          <a:p>
            <a:r>
              <a:t>Every method forecasts the same seven-day blocks using only the history available at each origin.</a:t>
            </a:r>
          </a:p>
          <a:p>
            <a:r>
              <a:t>The first 28 validation days select the lowest mean absolute error for each specialty.</a:t>
            </a:r>
          </a:p>
          <a:p>
            <a:r>
              <a:t>The next 28 validation days estimate error bands, and the final 56 dates test performance.</a:t>
            </a:r>
          </a:p>
          <a:p>
            <a:r>
              <a:t>Overall point forecasts add the specialty predictions, including unknown specialty.</a:t>
            </a:r>
          </a:p>
          <a:p>
            <a:r>
              <a:t>Source: reports/forecast_selection.csv; notebook Steps 15–18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example uses illustrative appointment details in the actual running application.</a:t>
            </a:r>
          </a:p>
          <a:p>
            <a:r>
              <a:t>The saved model estimates a 63.1 percent chance of a no-show for these inputs.</a:t>
            </a:r>
          </a:p>
          <a:p>
            <a:r>
              <a:t>That is above the validation-selected follow-up threshold of about 25.5 percent.</a:t>
            </a:r>
          </a:p>
          <a:p>
            <a:r>
              <a:t>I checked that the running app and direct model inference return the same estimate.</a:t>
            </a:r>
          </a:p>
          <a:p>
            <a:r>
              <a:t>A single prediction demonstrates the workflow, while held-out metrics judge its reliability.</a:t>
            </a:r>
          </a:p>
          <a:p>
            <a:r>
              <a:t>Source: illustrative inputs; saved classifier; verified app capture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F1 balances finding missed visits with avoiding false alarms.</a:t>
            </a:r>
          </a:p>
          <a:p>
            <a:r>
              <a:t>ROC-AUC measures how well the risk score ranks no-shows above attended appointments.</a:t>
            </a:r>
          </a:p>
          <a:p>
            <a:r>
              <a:t>The verified test values are 0.517 for F1 and 0.684 for ROC-AUC, below both requested goals.</a:t>
            </a:r>
          </a:p>
          <a:p>
            <a:r>
              <a:t>The risk ranking still contains signal, with precision–recall area above the prevalence baseline.</a:t>
            </a:r>
          </a:p>
          <a:p>
            <a:r>
              <a:t>The forecast branch also needs a separate evaluation of errors and uncertainty.</a:t>
            </a:r>
          </a:p>
          <a:p>
            <a:r>
              <a:t>Source: reports/classification_test.csv; saved-model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chart compares all 56 final test dates, including the sharp decline in bookings.</a:t>
            </a:r>
          </a:p>
          <a:p>
            <a:r>
              <a:t>The reconciled overall forecast has mean absolute error of about 170 appointments per day.</a:t>
            </a:r>
          </a:p>
          <a:p>
            <a:r>
              <a:t>MAPE is average percentage error. Very small daily counts amplify those errors.</a:t>
            </a:r>
          </a:p>
          <a:p>
            <a:r>
              <a:t>Negative R-squared signals weak forecasts, and the 90 percent band covers only 78.6 percent of test days.</a:t>
            </a:r>
          </a:p>
          <a:p>
            <a:r>
              <a:t>These results support a prototype demonstration, not a claim of reliable staffing decisions.</a:t>
            </a:r>
          </a:p>
          <a:p>
            <a:r>
              <a:t>Source: saved predictions; plot rounded to 2 decimals, metrics unrounded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saved real-data notebook contains 33 executed code cells without stored errors.</a:t>
            </a:r>
          </a:p>
          <a:p>
            <a:r>
              <a:t>Reloading preserves classifier predictions, and an illustrative app response matches direct inference.</a:t>
            </a:r>
          </a:p>
          <a:p>
            <a:r>
              <a:t>Separate synthetic checks exercised five app scenarios and confirmed forecast feature agreement.</a:t>
            </a:r>
          </a:p>
          <a:p>
            <a:r>
              <a:t>Those software checks establish behavior, while the real-data test metrics assess prediction quality.</a:t>
            </a:r>
          </a:p>
          <a:p>
            <a:r>
              <a:t>The remaining gaps explain why the current version stays a historical proof of concept.</a:t>
            </a:r>
          </a:p>
          <a:p>
            <a:r>
              <a:t>Source: executed notebook; .checks/verification.json; browser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source still lacks patient identifiers and booking creation timestamps.</a:t>
            </a:r>
          </a:p>
          <a:p>
            <a:r>
              <a:t>Some city labels, age flags, and calendar meanings need confirmation with the data owner.</a:t>
            </a:r>
          </a:p>
          <a:p>
            <a:r>
              <a:t>Documentation, displayed notebook outputs, and the latest CSV reports are not fully synchronized.</a:t>
            </a:r>
          </a:p>
          <a:p>
            <a:r>
              <a:t>The local app has no live clinic integration, and no intervention has measured reduced no-shows.</a:t>
            </a:r>
          </a:p>
          <a:p>
            <a:r>
              <a:t>My improvement plan therefore begins with trustworthy data and a repeatable evaluation.</a:t>
            </a:r>
          </a:p>
          <a:p>
            <a:r>
              <a:t>Source: source CSV; README; notebook; app.py; current reports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proposed improvement addresses uncertain field meanings and inconsistent saved evidence.</a:t>
            </a:r>
          </a:p>
          <a:p>
            <a:r>
              <a:t>I would confirm the clinic codebook and document the agreed missing-value and duplicate rules.</a:t>
            </a:r>
          </a:p>
          <a:p>
            <a:r>
              <a:t>I would pin one runtime, record the source hash, and regenerate notebook, reports and model bundles together.</a:t>
            </a:r>
          </a:p>
          <a:p>
            <a:r>
              <a:t>Success means a clean environment reproduces the same counts, scores and predictions from the same file.</a:t>
            </a:r>
          </a:p>
          <a:p>
            <a:r>
              <a:t>This is medium effort because it needs both data-owner review and environment cleanup.</a:t>
            </a:r>
          </a:p>
          <a:p>
            <a:r>
              <a:t>Source: proposed work based on source audit and versions.json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second proposed improvement makes the one-day-ahead use case verifiable.</a:t>
            </a:r>
          </a:p>
          <a:p>
            <a:r>
              <a:t>I would collect booking, cancellation and reminder timestamps, plus suitable identifiers and closure records.</a:t>
            </a:r>
          </a:p>
          <a:p>
            <a:r>
              <a:t>That would let me reconstruct what was actually known when each prediction would have been made.</a:t>
            </a:r>
          </a:p>
          <a:p>
            <a:r>
              <a:t>I would then evaluate valid history features on new future dates against the frozen baselines.</a:t>
            </a:r>
          </a:p>
          <a:p>
            <a:r>
              <a:t>This is medium to high effort because the clinic's source systems must supply reliable event records.</a:t>
            </a:r>
          </a:p>
          <a:p>
            <a:r>
              <a:t>Source: proposed work based on missing IDs and timing fields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current test set, the highest-risk ten percent contains 19.2 percent of observed no-shows.</a:t>
            </a:r>
          </a:p>
          <a:p>
            <a:r>
              <a:t>That is useful ranking evidence, but it does not show how many reminders would prevent a missed visit.</a:t>
            </a:r>
          </a:p>
          <a:p>
            <a:r>
              <a:t>I would propose a controlled pilot comparing usual reminders with risk-guided follow-up at the same budget.</a:t>
            </a:r>
          </a:p>
          <a:p>
            <a:r>
              <a:t>The pilot would measure the no-show-rate difference, staff contact time, and outcomes across patient groups.</a:t>
            </a:r>
          </a:p>
          <a:p>
            <a:r>
              <a:t>It needs clinic coordination, restricted data access, and enough observations to assess the effect reliably.</a:t>
            </a:r>
          </a:p>
          <a:p>
            <a:r>
              <a:t>Source: reports/contact_scenario.csv; proposed pilot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connects appointment-risk scoring and specialty demand forecasting in one readable implementation.</a:t>
            </a:r>
          </a:p>
          <a:p>
            <a:r>
              <a:t>Its strengths are explicit data decisions, future-date testing, and a working local interface.</a:t>
            </a:r>
          </a:p>
          <a:p>
            <a:r>
              <a:t>The verified predictive results still miss all four requested goals, so the system remains a prototype.</a:t>
            </a:r>
          </a:p>
          <a:p>
            <a:r>
              <a:t>My next steps are trustworthy data, inputs aligned to scoring time, and a controlled operational pilot.</a:t>
            </a:r>
          </a:p>
          <a:p>
            <a:r>
              <a:t>The main lesson is to show useful evidence and limits clearly. Thank you, and I welcome your questions.</a:t>
            </a:r>
          </a:p>
          <a:p>
            <a:r>
              <a:t>Source: current source code, reconciled reports and proposed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9EF37ED-B2B7-40C3-ACCA-C83CEE0F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6DBFA67-3433-42F0-93D8-19E605024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7117E3D-B68D-4897-9272-64BDC93C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264CB29-9BE1-4D91-BB76-B3F90903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9DAD0B5-627C-4B64-B66D-ABD50A056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28BE5A9-4A15-42F6-8A4F-479EFB75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712835-82CA-4298-B460-6F931AB7B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0A6A602-2EF6-4723-A5D8-6703E54B950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2D1B86E-06DB-49E6-81FC-EC6D4CB5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59E387D-D1D3-4625-92EE-A69F4B2C4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853076F-5901-421F-9902-211931552049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0296525" y="3162300"/>
            <a:ext cx="552450" cy="10382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73B5B6"/>
            </a:solidFill>
            <a:prstDash val="solid"/>
            <a:tailEnd type="triangle" w="med" len="med"/>
          </a:ln>
        </p:spPr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64D7C739-BA0A-4F6F-BCA7-3F44C212DA39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9134475" y="3162300"/>
            <a:ext cx="1162050" cy="10382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73B5B6"/>
            </a:solidFill>
            <a:prstDash val="solid"/>
            <a:tailEnd type="triangle" w="med" len="med"/>
          </a:ln>
        </p:spPr>
      </p:cxnSp>
      <p:sp>
        <p:nvSpPr>
          <p:cNvPr id="11" name="text-1">
            <a:extLst>
              <a:ext uri="{FF2B5EF4-FFF2-40B4-BE49-F238E27FC236}">
                <a16:creationId xmlns:a16="http://schemas.microsoft.com/office/drawing/2014/main" id="{113BA0E7-0CA6-440D-946C-17728EFCDACF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8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2A6605C7-0E1A-42B1-AFDE-B69271847A5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9DCAC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DCACB"/>
                </a:solidFill>
                <a:latin typeface="Arial"/>
                <a:ea typeface="Arial"/>
                <a:cs typeface="Arial"/>
              </a:rPr>
              <a:t>PROJECT VIVA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CB00DF48-431A-4FC5-81D1-45EDDE1A6806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771525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Medical Appointment</a:t>
            </a:r>
          </a:p>
          <a:p>
            <a: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No-Show Prediction</a:t>
            </a:r>
          </a:p>
          <a:p>
            <a: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&amp; Demand Forecasting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234F2692-A3A7-4AA9-A604-1B0D50A0DEB2}"/>
              </a:ext>
            </a:extLst>
          </p:cNvPr>
          <p:cNvSpPr>
            <a:spLocks noGrp="1"/>
          </p:cNvSpPr>
          <p:nvPr/>
        </p:nvSpPr>
        <p:spPr>
          <a:xfrm>
            <a:off x="638175" y="4248150"/>
            <a:ext cx="6953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AE9EB"/>
                </a:solidFill>
                <a:latin typeface="Arial"/>
                <a:ea typeface="Arial"/>
                <a:cs typeface="Arial"/>
              </a:rPr>
              <a:t>Helping clinics plan for missed visits</a:t>
            </a:r>
          </a:p>
          <a:p>
            <a:pPr algn="l">
              <a:defRPr sz="2325" b="0">
                <a:solidFill>
                  <a:srgbClr val="DAE9E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AE9EB"/>
                </a:solidFill>
                <a:latin typeface="Arial"/>
                <a:ea typeface="Arial"/>
                <a:cs typeface="Arial"/>
              </a:rPr>
              <a:t>and future bookings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46F83DC5-705E-4576-8833-2955D089378F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D8DC"/>
                </a:solidFill>
                <a:latin typeface="Arial"/>
                <a:ea typeface="Arial"/>
                <a:cs typeface="Arial"/>
              </a:rPr>
              <a:t>A readable Python implementation with an honest evaluation</a:t>
            </a:r>
          </a:p>
        </p:txBody>
      </p:sp>
      <p:sp>
        <p:nvSpPr>
          <p:cNvPr id="6" name="Appointment records">
            <a:extLst>
              <a:ext uri="{FF2B5EF4-FFF2-40B4-BE49-F238E27FC236}">
                <a16:creationId xmlns:a16="http://schemas.microsoft.com/office/drawing/2014/main" id="{94C42DA9-139B-4838-839E-4D43AB4B8EE9}"/>
              </a:ext>
            </a:extLst>
          </p:cNvPr>
          <p:cNvSpPr>
            <a:spLocks noGrp="1"/>
          </p:cNvSpPr>
          <p:nvPr/>
        </p:nvSpPr>
        <p:spPr>
          <a:xfrm>
            <a:off x="9220200" y="2343150"/>
            <a:ext cx="2152650" cy="819150"/>
          </a:xfrm>
          <a:prstGeom prst="rect">
            <a:avLst/>
          </a:prstGeom>
          <a:solidFill>
            <a:srgbClr val="0B2430"/>
          </a:solidFill>
          <a:ln w="19050">
            <a:solidFill>
              <a:srgbClr val="73B5B6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Appointment</a:t>
            </a:r>
          </a:p>
          <a:p>
            <a:pPr algn="ctr"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7" name="Risk">
            <a:extLst>
              <a:ext uri="{FF2B5EF4-FFF2-40B4-BE49-F238E27FC236}">
                <a16:creationId xmlns:a16="http://schemas.microsoft.com/office/drawing/2014/main" id="{4122AE69-7C0D-48B9-BCCA-810E1A1AF11D}"/>
              </a:ext>
            </a:extLst>
          </p:cNvPr>
          <p:cNvSpPr>
            <a:spLocks noGrp="1"/>
          </p:cNvSpPr>
          <p:nvPr/>
        </p:nvSpPr>
        <p:spPr>
          <a:xfrm>
            <a:off x="8420100" y="4200525"/>
            <a:ext cx="1428750" cy="790575"/>
          </a:xfrm>
          <a:prstGeom prst="rect">
            <a:avLst/>
          </a:prstGeom>
          <a:solidFill>
            <a:srgbClr val="0B2430"/>
          </a:solidFill>
          <a:ln w="19050">
            <a:solidFill>
              <a:srgbClr val="73B5B6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8" name="Demand">
            <a:extLst>
              <a:ext uri="{FF2B5EF4-FFF2-40B4-BE49-F238E27FC236}">
                <a16:creationId xmlns:a16="http://schemas.microsoft.com/office/drawing/2014/main" id="{8BADE078-919A-4C96-AD6E-179B395A7CC0}"/>
              </a:ext>
            </a:extLst>
          </p:cNvPr>
          <p:cNvSpPr>
            <a:spLocks noGrp="1"/>
          </p:cNvSpPr>
          <p:nvPr/>
        </p:nvSpPr>
        <p:spPr>
          <a:xfrm>
            <a:off x="10096500" y="4200525"/>
            <a:ext cx="1504950" cy="790575"/>
          </a:xfrm>
          <a:prstGeom prst="rect">
            <a:avLst/>
          </a:prstGeom>
          <a:solidFill>
            <a:srgbClr val="0B2430"/>
          </a:solidFill>
          <a:ln w="19050">
            <a:solidFill>
              <a:srgbClr val="73B5B6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</p:spTree>
    <p:extLst>
      <p:ext uri="{BB962C8B-B14F-4D97-AF65-F5344CB8AC3E}">
        <p14:creationId xmlns:p14="http://schemas.microsoft.com/office/powerpoint/2010/main" val="163605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58DD5E-2761-4E58-9A3A-A6F9B05DAA69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867775" y="4314825"/>
            <a:ext cx="0" cy="714375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3EC336-5A14-4F63-A97D-89DA7676EE00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8867775" y="2762250"/>
            <a:ext cx="0" cy="714375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sp>
        <p:nvSpPr>
          <p:cNvPr id="11" name="text-1">
            <a:extLst>
              <a:ext uri="{FF2B5EF4-FFF2-40B4-BE49-F238E27FC236}">
                <a16:creationId xmlns:a16="http://schemas.microsoft.com/office/drawing/2014/main" id="{8A16C7CD-A092-4BF9-893F-53FFC4C55B1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A missed visit can leave a booked slot unused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69AF0AB5-3223-457E-BB2A-998FB96E3747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7608E19D-0C08-4FC2-978E-78D71850C5D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8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31.8%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F34688A5-3C22-494D-834C-AD60C287F9B9}"/>
              </a:ext>
            </a:extLst>
          </p:cNvPr>
          <p:cNvSpPr>
            <a:spLocks noGrp="1"/>
          </p:cNvSpPr>
          <p:nvPr/>
        </p:nvSpPr>
        <p:spPr>
          <a:xfrm>
            <a:off x="666750" y="3438525"/>
            <a:ext cx="4619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of supplied appointments</a:t>
            </a:r>
          </a:p>
          <a:p>
            <a:pPr algn="l">
              <a:defRPr sz="2400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were recorded as no-shows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E30CEA7F-B2AA-4133-813C-172B91395F06}"/>
              </a:ext>
            </a:extLst>
          </p:cNvPr>
          <p:cNvSpPr>
            <a:spLocks noGrp="1"/>
          </p:cNvSpPr>
          <p:nvPr/>
        </p:nvSpPr>
        <p:spPr>
          <a:xfrm>
            <a:off x="666750" y="4914900"/>
            <a:ext cx="4667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The cost is unused capacity</a:t>
            </a:r>
          </a:p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and less predictable planning</a:t>
            </a:r>
          </a:p>
        </p:txBody>
      </p:sp>
      <p:sp>
        <p:nvSpPr>
          <p:cNvPr id="6" name="A 1PM visit is booked">
            <a:extLst>
              <a:ext uri="{FF2B5EF4-FFF2-40B4-BE49-F238E27FC236}">
                <a16:creationId xmlns:a16="http://schemas.microsoft.com/office/drawing/2014/main" id="{9BA91D15-2633-4449-A000-B424324743A2}"/>
              </a:ext>
            </a:extLst>
          </p:cNvPr>
          <p:cNvSpPr>
            <a:spLocks noGrp="1"/>
          </p:cNvSpPr>
          <p:nvPr/>
        </p:nvSpPr>
        <p:spPr>
          <a:xfrm>
            <a:off x="6534150" y="1924050"/>
            <a:ext cx="466725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A 1PM visit is booked</a:t>
            </a:r>
          </a:p>
        </p:txBody>
      </p:sp>
      <p:sp>
        <p:nvSpPr>
          <p:cNvPr id="7" name="The patient does not attend">
            <a:extLst>
              <a:ext uri="{FF2B5EF4-FFF2-40B4-BE49-F238E27FC236}">
                <a16:creationId xmlns:a16="http://schemas.microsoft.com/office/drawing/2014/main" id="{1392BE0C-7F5C-4EC9-A266-737017C59289}"/>
              </a:ext>
            </a:extLst>
          </p:cNvPr>
          <p:cNvSpPr>
            <a:spLocks noGrp="1"/>
          </p:cNvSpPr>
          <p:nvPr/>
        </p:nvSpPr>
        <p:spPr>
          <a:xfrm>
            <a:off x="6534150" y="3476625"/>
            <a:ext cx="466725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The patient does not attend</a:t>
            </a:r>
          </a:p>
        </p:txBody>
      </p:sp>
      <p:sp>
        <p:nvSpPr>
          <p:cNvPr id="8" name="The slot may remain unused">
            <a:extLst>
              <a:ext uri="{FF2B5EF4-FFF2-40B4-BE49-F238E27FC236}">
                <a16:creationId xmlns:a16="http://schemas.microsoft.com/office/drawing/2014/main" id="{2AE67633-1828-4A15-A242-427B275E9963}"/>
              </a:ext>
            </a:extLst>
          </p:cNvPr>
          <p:cNvSpPr>
            <a:spLocks noGrp="1"/>
          </p:cNvSpPr>
          <p:nvPr/>
        </p:nvSpPr>
        <p:spPr>
          <a:xfrm>
            <a:off x="6534150" y="5029200"/>
            <a:ext cx="466725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The slot may remain unused</a:t>
            </a:r>
          </a:p>
        </p:txBody>
      </p:sp>
    </p:spTree>
    <p:extLst>
      <p:ext uri="{BB962C8B-B14F-4D97-AF65-F5344CB8AC3E}">
        <p14:creationId xmlns:p14="http://schemas.microsoft.com/office/powerpoint/2010/main" val="95099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1">
            <a:extLst>
              <a:ext uri="{FF2B5EF4-FFF2-40B4-BE49-F238E27FC236}">
                <a16:creationId xmlns:a16="http://schemas.microsoft.com/office/drawing/2014/main" id="{772EEE02-ADBD-4147-A192-D4B43377779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The project supports follow-up and capacity planning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B5BC2C26-72B4-4B4C-AEBA-EC4643BCA4BD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20F185-A8B7-4EEE-92A3-4A79B6237114}"/>
              </a:ext>
            </a:extLst>
          </p:cNvPr>
          <p:cNvGraphicFramePr/>
          <p:nvPr/>
        </p:nvGraphicFramePr>
        <p:xfrm>
          <a:off x="609600" y="1952625"/>
          <a:ext cx="10972800" cy="285750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Conventional example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This project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Patient follow-up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One reminder rule</a:t>
                      </a:r>
                    </a:p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for all bookings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Risk estimate for</a:t>
                      </a:r>
                    </a:p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each appointment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Capacity planning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Recent counts and</a:t>
                      </a:r>
                    </a:p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manual judgment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Daily forecasts overall</a:t>
                      </a:r>
                    </a:p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and by specialty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-3">
            <a:extLst>
              <a:ext uri="{FF2B5EF4-FFF2-40B4-BE49-F238E27FC236}">
                <a16:creationId xmlns:a16="http://schemas.microsoft.com/office/drawing/2014/main" id="{DF533DCB-70CF-4E21-B9D4-182A874AF837}"/>
              </a:ext>
            </a:extLst>
          </p:cNvPr>
          <p:cNvSpPr>
            <a:spLocks noGrp="1"/>
          </p:cNvSpPr>
          <p:nvPr/>
        </p:nvSpPr>
        <p:spPr>
          <a:xfrm>
            <a:off x="666750" y="5314950"/>
            <a:ext cx="10620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The outputs support staff review. Booking counts still need capacity and duration data to become a staffing plan.</a:t>
            </a:r>
          </a:p>
        </p:txBody>
      </p:sp>
    </p:spTree>
    <p:extLst>
      <p:ext uri="{BB962C8B-B14F-4D97-AF65-F5344CB8AC3E}">
        <p14:creationId xmlns:p14="http://schemas.microsoft.com/office/powerpoint/2010/main" val="107657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">
            <a:extLst>
              <a:ext uri="{FF2B5EF4-FFF2-40B4-BE49-F238E27FC236}">
                <a16:creationId xmlns:a16="http://schemas.microsoft.com/office/drawing/2014/main" id="{F8E36B9E-C0F1-4BE9-8E4D-E378EE7C1CF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The records contain useful signal and important gaps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90037A8E-F8A0-4C38-B0CE-4F94F54923E1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D10FA0BF-527A-4834-947A-B4F12E0A77A1}"/>
              </a:ext>
            </a:extLst>
          </p:cNvPr>
          <p:cNvGraphicFramePr/>
          <p:nvPr/>
        </p:nvGraphicFramePr>
        <p:xfrm>
          <a:off x="609600" y="1952625"/>
          <a:ext cx="704850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-3">
            <a:extLst>
              <a:ext uri="{FF2B5EF4-FFF2-40B4-BE49-F238E27FC236}">
                <a16:creationId xmlns:a16="http://schemas.microsoft.com/office/drawing/2014/main" id="{ACB24415-4937-4202-BFA2-27800C43F49B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4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109,593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CA46723-B3D3-4C5E-8C60-0BB821D9EC21}"/>
              </a:ext>
            </a:extLst>
          </p:cNvPr>
          <p:cNvSpPr>
            <a:spLocks noGrp="1"/>
          </p:cNvSpPr>
          <p:nvPr/>
        </p:nvSpPr>
        <p:spPr>
          <a:xfrm>
            <a:off x="8201025" y="2781300"/>
            <a:ext cx="3190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appointment records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A68AA41-BE9A-48E8-8897-FB82EBAAFD40}"/>
              </a:ext>
            </a:extLst>
          </p:cNvPr>
          <p:cNvSpPr>
            <a:spLocks noGrp="1"/>
          </p:cNvSpPr>
          <p:nvPr/>
        </p:nvSpPr>
        <p:spPr>
          <a:xfrm>
            <a:off x="8201025" y="3571875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26 fields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990530F-54E3-4C1D-BA68-1C2BCEFC5AB7}"/>
              </a:ext>
            </a:extLst>
          </p:cNvPr>
          <p:cNvSpPr>
            <a:spLocks noGrp="1"/>
          </p:cNvSpPr>
          <p:nvPr/>
        </p:nvSpPr>
        <p:spPr>
          <a:xfrm>
            <a:off x="8201025" y="4591050"/>
            <a:ext cx="32194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498 dates</a:t>
            </a:r>
          </a:p>
          <a:p>
            <a: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Jan 2020 to May 2021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B3C6417-6FB4-4FF4-8788-749538C43DEB}"/>
              </a:ext>
            </a:extLst>
          </p:cNvPr>
          <p:cNvSpPr>
            <a:spLocks noGrp="1"/>
          </p:cNvSpPr>
          <p:nvPr/>
        </p:nvSpPr>
        <p:spPr>
          <a:xfrm>
            <a:off x="666750" y="59340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Missingness shown before cleaning. Blank strings add a separate quality issue.</a:t>
            </a:r>
          </a:p>
        </p:txBody>
      </p:sp>
    </p:spTree>
    <p:extLst>
      <p:ext uri="{BB962C8B-B14F-4D97-AF65-F5344CB8AC3E}">
        <p14:creationId xmlns:p14="http://schemas.microsoft.com/office/powerpoint/2010/main" val="129359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1">
            <a:extLst>
              <a:ext uri="{FF2B5EF4-FFF2-40B4-BE49-F238E27FC236}">
                <a16:creationId xmlns:a16="http://schemas.microsoft.com/office/drawing/2014/main" id="{B77223E7-72B3-4998-93F4-29662E50405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Questionable inputs need defensible handling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61864EB3-E65D-4B41-BC5A-31EAA8808856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8FC363-45EC-4CA3-8198-38B6AE47D59F}"/>
              </a:ext>
            </a:extLst>
          </p:cNvPr>
          <p:cNvGraphicFramePr/>
          <p:nvPr/>
        </p:nvGraphicFramePr>
        <p:xfrm>
          <a:off x="609600" y="1762125"/>
          <a:ext cx="10972800" cy="405765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issue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decision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Missing input values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Learn imputation from training rows only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26,289 place labels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Exclude location until city mapping is verified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Weather and SMS timing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Exclude inputs not justified at advance scoring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Conflicting age flags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Retain recorded fields and report the disagreement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36 identical full rows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Retain without unique appointment identifiers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-3">
            <a:extLst>
              <a:ext uri="{FF2B5EF4-FFF2-40B4-BE49-F238E27FC236}">
                <a16:creationId xmlns:a16="http://schemas.microsoft.com/office/drawing/2014/main" id="{CC7BCF6D-6060-4388-B109-B78A230BFFEC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The continuous calendar also needs confirmation before seasonal explanations are trusted.</a:t>
            </a:r>
          </a:p>
        </p:txBody>
      </p:sp>
    </p:spTree>
    <p:extLst>
      <p:ext uri="{BB962C8B-B14F-4D97-AF65-F5344CB8AC3E}">
        <p14:creationId xmlns:p14="http://schemas.microsoft.com/office/powerpoint/2010/main" val="169916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EC226EA-4295-4411-9CEF-BE9BA1300356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flipH="1">
            <a:off x="5000625" y="2952750"/>
            <a:ext cx="4557713" cy="16573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5F3D69-1390-4A8B-B40A-DE05839F41CD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715125" y="5038725"/>
            <a:ext cx="914400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47C50A-F866-46E1-83FE-78C56B7FE23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562225" y="5038725"/>
            <a:ext cx="723900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8BA352-2E45-4006-ADE1-AD8E69EFC83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715125" y="2524125"/>
            <a:ext cx="914400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C85D7E-6C20-491E-BF4C-4CC923F9B9A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62225" y="2524125"/>
            <a:ext cx="723900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sp>
        <p:nvSpPr>
          <p:cNvPr id="18" name="text-1">
            <a:extLst>
              <a:ext uri="{FF2B5EF4-FFF2-40B4-BE49-F238E27FC236}">
                <a16:creationId xmlns:a16="http://schemas.microsoft.com/office/drawing/2014/main" id="{DD3FA8C9-C917-475B-8378-5948F0ECFD7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The notebook trains files that Streamlit can reuse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EBACD5F1-3FB7-4352-858E-9424DF470D68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77A2359F-FC18-4157-B7A3-D639A7639554}"/>
              </a:ext>
            </a:extLst>
          </p:cNvPr>
          <p:cNvSpPr>
            <a:spLocks noGrp="1"/>
          </p:cNvSpPr>
          <p:nvPr/>
        </p:nvSpPr>
        <p:spPr>
          <a:xfrm>
            <a:off x="619125" y="1581150"/>
            <a:ext cx="762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Training on historical records</a:t>
            </a:r>
          </a:p>
        </p:txBody>
      </p:sp>
      <p:sp>
        <p:nvSpPr>
          <p:cNvPr id="4" name="CSV appointments">
            <a:extLst>
              <a:ext uri="{FF2B5EF4-FFF2-40B4-BE49-F238E27FC236}">
                <a16:creationId xmlns:a16="http://schemas.microsoft.com/office/drawing/2014/main" id="{0AC1BEA2-DE06-405E-8EAF-518A45CD9CC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952625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CSV</a:t>
            </a:r>
          </a:p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appointments</a:t>
            </a:r>
          </a:p>
        </p:txBody>
      </p:sp>
      <p:sp>
        <p:nvSpPr>
          <p:cNvPr id="5" name="Jupyter notebook 20 project steps">
            <a:extLst>
              <a:ext uri="{FF2B5EF4-FFF2-40B4-BE49-F238E27FC236}">
                <a16:creationId xmlns:a16="http://schemas.microsoft.com/office/drawing/2014/main" id="{A4950FF4-824C-4C3C-966C-B471F2EB4F51}"/>
              </a:ext>
            </a:extLst>
          </p:cNvPr>
          <p:cNvSpPr>
            <a:spLocks noGrp="1"/>
          </p:cNvSpPr>
          <p:nvPr/>
        </p:nvSpPr>
        <p:spPr>
          <a:xfrm>
            <a:off x="3286125" y="2095500"/>
            <a:ext cx="342900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Jupyter notebook</a:t>
            </a:r>
          </a:p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20 project steps</a:t>
            </a:r>
          </a:p>
        </p:txBody>
      </p:sp>
      <p:sp>
        <p:nvSpPr>
          <p:cNvPr id="6" name="Saved model bundles joblib files">
            <a:extLst>
              <a:ext uri="{FF2B5EF4-FFF2-40B4-BE49-F238E27FC236}">
                <a16:creationId xmlns:a16="http://schemas.microsoft.com/office/drawing/2014/main" id="{696F0543-3EF1-4E32-9818-70E902D6A6FF}"/>
              </a:ext>
            </a:extLst>
          </p:cNvPr>
          <p:cNvSpPr>
            <a:spLocks noGrp="1"/>
          </p:cNvSpPr>
          <p:nvPr/>
        </p:nvSpPr>
        <p:spPr>
          <a:xfrm>
            <a:off x="7629525" y="2095500"/>
            <a:ext cx="3857625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Saved model bundles</a:t>
            </a:r>
          </a:p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joblib files</a:t>
            </a:r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008C9451-F205-4921-A948-235B5410BFC6}"/>
              </a:ext>
            </a:extLst>
          </p:cNvPr>
          <p:cNvSpPr>
            <a:spLocks noGrp="1"/>
          </p:cNvSpPr>
          <p:nvPr/>
        </p:nvSpPr>
        <p:spPr>
          <a:xfrm>
            <a:off x="666750" y="3114675"/>
            <a:ext cx="628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pandas prepares the data</a:t>
            </a:r>
          </a:p>
          <a:p>
            <a:pPr algn="l">
              <a:defRPr sz="18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scikit-learn and statsmodels fit the models</a:t>
            </a:r>
          </a:p>
        </p:txBody>
      </p:sp>
      <p:sp>
        <p:nvSpPr>
          <p:cNvPr id="10" name="text-10">
            <a:extLst>
              <a:ext uri="{FF2B5EF4-FFF2-40B4-BE49-F238E27FC236}">
                <a16:creationId xmlns:a16="http://schemas.microsoft.com/office/drawing/2014/main" id="{F75A7681-CB38-4797-94D0-6A7B9BCFA360}"/>
              </a:ext>
            </a:extLst>
          </p:cNvPr>
          <p:cNvSpPr>
            <a:spLocks noGrp="1"/>
          </p:cNvSpPr>
          <p:nvPr/>
        </p:nvSpPr>
        <p:spPr>
          <a:xfrm>
            <a:off x="619125" y="4048125"/>
            <a:ext cx="762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Using the saved models</a:t>
            </a:r>
          </a:p>
        </p:txBody>
      </p:sp>
      <p:sp>
        <p:nvSpPr>
          <p:cNvPr id="11" name="Staff inputs">
            <a:extLst>
              <a:ext uri="{FF2B5EF4-FFF2-40B4-BE49-F238E27FC236}">
                <a16:creationId xmlns:a16="http://schemas.microsoft.com/office/drawing/2014/main" id="{BD716EF9-CE0E-4BDB-B22E-5EE475FA6694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952625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Staff</a:t>
            </a:r>
          </a:p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2" name="Streamlit app.py">
            <a:extLst>
              <a:ext uri="{FF2B5EF4-FFF2-40B4-BE49-F238E27FC236}">
                <a16:creationId xmlns:a16="http://schemas.microsoft.com/office/drawing/2014/main" id="{69729597-B3D6-4FD4-BD21-C9C478318992}"/>
              </a:ext>
            </a:extLst>
          </p:cNvPr>
          <p:cNvSpPr>
            <a:spLocks noGrp="1"/>
          </p:cNvSpPr>
          <p:nvPr/>
        </p:nvSpPr>
        <p:spPr>
          <a:xfrm>
            <a:off x="3286125" y="4610100"/>
            <a:ext cx="342900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Streamlit</a:t>
            </a:r>
          </a:p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app.py</a:t>
            </a:r>
          </a:p>
        </p:txBody>
      </p:sp>
      <p:sp>
        <p:nvSpPr>
          <p:cNvPr id="13" name="No-show risk Daily booking forecast">
            <a:extLst>
              <a:ext uri="{FF2B5EF4-FFF2-40B4-BE49-F238E27FC236}">
                <a16:creationId xmlns:a16="http://schemas.microsoft.com/office/drawing/2014/main" id="{8C8DC505-BCED-4B6A-8B96-8A813DE16F7F}"/>
              </a:ext>
            </a:extLst>
          </p:cNvPr>
          <p:cNvSpPr>
            <a:spLocks noGrp="1"/>
          </p:cNvSpPr>
          <p:nvPr/>
        </p:nvSpPr>
        <p:spPr>
          <a:xfrm>
            <a:off x="7629525" y="4610100"/>
            <a:ext cx="3857625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No-show risk</a:t>
            </a:r>
          </a:p>
          <a:p>
            <a: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13C"/>
                </a:solidFill>
                <a:latin typeface="Arial"/>
                <a:ea typeface="Arial"/>
                <a:cs typeface="Arial"/>
              </a:rPr>
              <a:t>Daily booking forecast</a:t>
            </a:r>
          </a:p>
        </p:txBody>
      </p:sp>
      <p:sp>
        <p:nvSpPr>
          <p:cNvPr id="17" name="text-17">
            <a:extLst>
              <a:ext uri="{FF2B5EF4-FFF2-40B4-BE49-F238E27FC236}">
                <a16:creationId xmlns:a16="http://schemas.microsoft.com/office/drawing/2014/main" id="{64E18820-2128-4193-BA7F-B83A603E6EE2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Matplotlib and seaborn explain performance. The app has no live clinic connection.</a:t>
            </a:r>
          </a:p>
        </p:txBody>
      </p:sp>
    </p:spTree>
    <p:extLst>
      <p:ext uri="{BB962C8B-B14F-4D97-AF65-F5344CB8AC3E}">
        <p14:creationId xmlns:p14="http://schemas.microsoft.com/office/powerpoint/2010/main" val="203712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24C0CD-00ED-4375-BD1C-82185A12B356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8591550" y="5114925"/>
            <a:ext cx="447675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BF1C08-4D38-4A04-879A-F57DE514E449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5781675" y="5114925"/>
            <a:ext cx="447675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9EAA87-CE2C-4D87-AFAF-A1B48EEB1E88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2971800" y="5114925"/>
            <a:ext cx="447675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F87D85-1A98-416C-95AC-59C30DE5297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591550" y="2847975"/>
            <a:ext cx="447675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8D035A-51C6-4951-9F32-CFD2913098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781675" y="2847975"/>
            <a:ext cx="447675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191A83-3188-414F-A52A-C69524423D1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971800" y="2847975"/>
            <a:ext cx="447675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sp>
        <p:nvSpPr>
          <p:cNvPr id="19" name="text-1">
            <a:extLst>
              <a:ext uri="{FF2B5EF4-FFF2-40B4-BE49-F238E27FC236}">
                <a16:creationId xmlns:a16="http://schemas.microsoft.com/office/drawing/2014/main" id="{4B01FCD3-D6B7-4DA7-88D9-ED03337444E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Each output follows a clear path through the data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4ED3936F-F12B-4FF2-9F7A-2B04D2447D78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58D4B008-B04E-41B0-A8F9-88F8531CA58D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Appointment-level risk</a:t>
            </a:r>
          </a:p>
        </p:txBody>
      </p:sp>
      <p:sp>
        <p:nvSpPr>
          <p:cNvPr id="4" name="Recorded appointment fields">
            <a:extLst>
              <a:ext uri="{FF2B5EF4-FFF2-40B4-BE49-F238E27FC236}">
                <a16:creationId xmlns:a16="http://schemas.microsoft.com/office/drawing/2014/main" id="{7C009235-E56A-42BE-A6C9-65C98A595FF3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2362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Recorded</a:t>
            </a:r>
          </a:p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appointment fields</a:t>
            </a:r>
          </a:p>
        </p:txBody>
      </p:sp>
      <p:sp>
        <p:nvSpPr>
          <p:cNvPr id="5" name="Fill missing values and encode categories">
            <a:extLst>
              <a:ext uri="{FF2B5EF4-FFF2-40B4-BE49-F238E27FC236}">
                <a16:creationId xmlns:a16="http://schemas.microsoft.com/office/drawing/2014/main" id="{565B9202-9FF5-4722-9C9E-0CF8F40ABF62}"/>
              </a:ext>
            </a:extLst>
          </p:cNvPr>
          <p:cNvSpPr>
            <a:spLocks noGrp="1"/>
          </p:cNvSpPr>
          <p:nvPr/>
        </p:nvSpPr>
        <p:spPr>
          <a:xfrm>
            <a:off x="3419475" y="2295525"/>
            <a:ext cx="2362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Fill missing values</a:t>
            </a:r>
          </a:p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and encode categories</a:t>
            </a:r>
          </a:p>
        </p:txBody>
      </p:sp>
      <p:sp>
        <p:nvSpPr>
          <p:cNvPr id="6" name="Classifier and probability adjustment">
            <a:extLst>
              <a:ext uri="{FF2B5EF4-FFF2-40B4-BE49-F238E27FC236}">
                <a16:creationId xmlns:a16="http://schemas.microsoft.com/office/drawing/2014/main" id="{6C6C7D32-FC38-4D07-9B64-DE0F82FEB79B}"/>
              </a:ext>
            </a:extLst>
          </p:cNvPr>
          <p:cNvSpPr>
            <a:spLocks noGrp="1"/>
          </p:cNvSpPr>
          <p:nvPr/>
        </p:nvSpPr>
        <p:spPr>
          <a:xfrm>
            <a:off x="6229350" y="2295525"/>
            <a:ext cx="2362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Classifier and</a:t>
            </a:r>
          </a:p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probability adjustment</a:t>
            </a:r>
          </a:p>
        </p:txBody>
      </p:sp>
      <p:sp>
        <p:nvSpPr>
          <p:cNvPr id="7" name="Risk estimate and follow-up flag">
            <a:extLst>
              <a:ext uri="{FF2B5EF4-FFF2-40B4-BE49-F238E27FC236}">
                <a16:creationId xmlns:a16="http://schemas.microsoft.com/office/drawing/2014/main" id="{D6719768-88FB-4501-A780-81990ABD320B}"/>
              </a:ext>
            </a:extLst>
          </p:cNvPr>
          <p:cNvSpPr>
            <a:spLocks noGrp="1"/>
          </p:cNvSpPr>
          <p:nvPr/>
        </p:nvSpPr>
        <p:spPr>
          <a:xfrm>
            <a:off x="9039225" y="2295525"/>
            <a:ext cx="2362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Risk estimate</a:t>
            </a:r>
          </a:p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and follow-up flag</a:t>
            </a:r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25218C41-9B0B-4FF0-8477-E7A6D24B364B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Daily demand</a:t>
            </a:r>
          </a:p>
        </p:txBody>
      </p:sp>
      <p:sp>
        <p:nvSpPr>
          <p:cNvPr id="12" name="Group by date and specialty">
            <a:extLst>
              <a:ext uri="{FF2B5EF4-FFF2-40B4-BE49-F238E27FC236}">
                <a16:creationId xmlns:a16="http://schemas.microsoft.com/office/drawing/2014/main" id="{B87516E7-C7F5-40E0-AB69-C26180714CEF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2362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Group by date</a:t>
            </a:r>
          </a:p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and specialty</a:t>
            </a:r>
          </a:p>
        </p:txBody>
      </p:sp>
      <p:sp>
        <p:nvSpPr>
          <p:cNvPr id="13" name="Create known weekly lag features">
            <a:extLst>
              <a:ext uri="{FF2B5EF4-FFF2-40B4-BE49-F238E27FC236}">
                <a16:creationId xmlns:a16="http://schemas.microsoft.com/office/drawing/2014/main" id="{7DEEA25F-B169-49B8-A612-ED07BD06DBA0}"/>
              </a:ext>
            </a:extLst>
          </p:cNvPr>
          <p:cNvSpPr>
            <a:spLocks noGrp="1"/>
          </p:cNvSpPr>
          <p:nvPr/>
        </p:nvSpPr>
        <p:spPr>
          <a:xfrm>
            <a:off x="3419475" y="4562475"/>
            <a:ext cx="2362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Create known</a:t>
            </a:r>
          </a:p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weekly lag features</a:t>
            </a:r>
          </a:p>
        </p:txBody>
      </p:sp>
      <p:sp>
        <p:nvSpPr>
          <p:cNvPr id="14" name="Fit selected forecast methods">
            <a:extLst>
              <a:ext uri="{FF2B5EF4-FFF2-40B4-BE49-F238E27FC236}">
                <a16:creationId xmlns:a16="http://schemas.microsoft.com/office/drawing/2014/main" id="{FED58BE1-2F1C-4A84-91E1-A26DC2E0A105}"/>
              </a:ext>
            </a:extLst>
          </p:cNvPr>
          <p:cNvSpPr>
            <a:spLocks noGrp="1"/>
          </p:cNvSpPr>
          <p:nvPr/>
        </p:nvSpPr>
        <p:spPr>
          <a:xfrm>
            <a:off x="6229350" y="4562475"/>
            <a:ext cx="2362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Fit selected</a:t>
            </a:r>
          </a:p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forecast methods</a:t>
            </a:r>
          </a:p>
        </p:txBody>
      </p:sp>
      <p:sp>
        <p:nvSpPr>
          <p:cNvPr id="15" name="Daily counts and error bands">
            <a:extLst>
              <a:ext uri="{FF2B5EF4-FFF2-40B4-BE49-F238E27FC236}">
                <a16:creationId xmlns:a16="http://schemas.microsoft.com/office/drawing/2014/main" id="{FBC0E20A-0027-4D61-9A93-93AAF21A8B0D}"/>
              </a:ext>
            </a:extLst>
          </p:cNvPr>
          <p:cNvSpPr>
            <a:spLocks noGrp="1"/>
          </p:cNvSpPr>
          <p:nvPr/>
        </p:nvSpPr>
        <p:spPr>
          <a:xfrm>
            <a:off x="9039225" y="4562475"/>
            <a:ext cx="2362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Daily counts</a:t>
            </a:r>
          </a:p>
          <a:p>
            <a:pPr algn="ctr">
              <a:defRPr sz="195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13C"/>
                </a:solidFill>
                <a:latin typeface="Arial"/>
                <a:ea typeface="Arial"/>
                <a:cs typeface="Arial"/>
              </a:rPr>
              <a:t>and error bands</a:t>
            </a:r>
          </a:p>
        </p:txBody>
      </p:sp>
    </p:spTree>
    <p:extLst>
      <p:ext uri="{BB962C8B-B14F-4D97-AF65-F5344CB8AC3E}">
        <p14:creationId xmlns:p14="http://schemas.microsoft.com/office/powerpoint/2010/main" val="61614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">
            <a:extLst>
              <a:ext uri="{FF2B5EF4-FFF2-40B4-BE49-F238E27FC236}">
                <a16:creationId xmlns:a16="http://schemas.microsoft.com/office/drawing/2014/main" id="{2A58CB46-96A7-4BF3-B58B-1B74A80FC44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The risk model learns patterns from past appointments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A4D3E53D-ABEA-4CBA-B1E0-1801D981981F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31BDEEF6-B733-437E-BD02-5AC1FCB1A7FD}"/>
              </a:ext>
            </a:extLst>
          </p:cNvPr>
          <p:cNvSpPr>
            <a:spLocks noGrp="1"/>
          </p:cNvSpPr>
          <p:nvPr/>
        </p:nvSpPr>
        <p:spPr>
          <a:xfrm>
            <a:off x="647700" y="1628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Classifier: a model that predicts which of two outcomes is more likely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B9B14A-93F0-4D07-86D1-CBDFBBFFF1F9}"/>
              </a:ext>
            </a:extLst>
          </p:cNvPr>
          <p:cNvGraphicFramePr/>
          <p:nvPr/>
        </p:nvGraphicFramePr>
        <p:xfrm>
          <a:off x="609600" y="2305050"/>
          <a:ext cx="10972800" cy="26098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24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compare it?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A simple benchmark for relationships in the inputs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Many trees capture patterns and interactions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Small trees gradually improve the learned risk patterns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4">
            <a:extLst>
              <a:ext uri="{FF2B5EF4-FFF2-40B4-BE49-F238E27FC236}">
                <a16:creationId xmlns:a16="http://schemas.microsoft.com/office/drawing/2014/main" id="{00B9E4A1-0ED1-4D70-AFDA-E88C56C1A198}"/>
              </a:ext>
            </a:extLst>
          </p:cNvPr>
          <p:cNvSpPr>
            <a:spLocks noGrp="1"/>
          </p:cNvSpPr>
          <p:nvPr/>
        </p:nvSpPr>
        <p:spPr>
          <a:xfrm>
            <a:off x="666750" y="527685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Selection metric: precision–recall area, focused on missed appointments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A504CB5-20A5-4CB5-89CA-D7C1F5922D95}"/>
              </a:ext>
            </a:extLst>
          </p:cNvPr>
          <p:cNvSpPr>
            <a:spLocks noGrp="1"/>
          </p:cNvSpPr>
          <p:nvPr/>
        </p:nvSpPr>
        <p:spPr>
          <a:xfrm>
            <a:off x="666750" y="5781675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Selected candidate: small 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114815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632A22-6229-40E6-A2DE-A879AF82E8AB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9334500" y="3067050"/>
            <a:ext cx="266700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EE468B-B2B0-424B-B9EC-FBB9464938C5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7086600" y="3067050"/>
            <a:ext cx="266700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7307E5-FC2E-4D78-B965-71B4C510DCA1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4838700" y="3067050"/>
            <a:ext cx="266700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D76DD2-4D0B-41A1-BE1D-58A7D3727DE4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2590800" y="3067050"/>
            <a:ext cx="266700" cy="0"/>
          </a:xfrm>
          <a:prstGeom prst="straightConnector1">
            <a:avLst/>
          </a:prstGeom>
          <a:ln w="23813">
            <a:solidFill>
              <a:srgbClr val="087F83"/>
            </a:solidFill>
            <a:prstDash val="solid"/>
            <a:tailEnd type="triangle" w="med" len="med"/>
          </a:ln>
        </p:spPr>
      </p:cxnSp>
      <p:sp>
        <p:nvSpPr>
          <p:cNvPr id="24" name="text-1">
            <a:extLst>
              <a:ext uri="{FF2B5EF4-FFF2-40B4-BE49-F238E27FC236}">
                <a16:creationId xmlns:a16="http://schemas.microsoft.com/office/drawing/2014/main" id="{8A34E7F1-F7EC-41EF-9A5B-EE3D032B8C4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Future dates stay separate from model decisions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0E6FC971-B501-4627-9223-2A16D95111E3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5FC8FC-9D07-4BAE-9B0E-2752D10EF030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98120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E4CE5793-D0E8-4493-AB5F-E4A309EA3742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828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Fit model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58B0571B-721F-4EE7-B80A-C1446DC95C19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1828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348 days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104CB4-F41F-4BCC-B9E2-BF259DD67BEF}"/>
              </a:ext>
            </a:extLst>
          </p:cNvPr>
          <p:cNvSpPr>
            <a:spLocks noGrp="1"/>
          </p:cNvSpPr>
          <p:nvPr/>
        </p:nvSpPr>
        <p:spPr>
          <a:xfrm>
            <a:off x="2857500" y="2352675"/>
            <a:ext cx="198120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C957DFA9-7BF4-43B6-A095-E4A922564DF7}"/>
              </a:ext>
            </a:extLst>
          </p:cNvPr>
          <p:cNvSpPr>
            <a:spLocks noGrp="1"/>
          </p:cNvSpPr>
          <p:nvPr/>
        </p:nvSpPr>
        <p:spPr>
          <a:xfrm>
            <a:off x="2933700" y="2533650"/>
            <a:ext cx="1828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Choose model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508324F0-4164-4651-B6DB-CE482AF55EDD}"/>
              </a:ext>
            </a:extLst>
          </p:cNvPr>
          <p:cNvSpPr>
            <a:spLocks noGrp="1"/>
          </p:cNvSpPr>
          <p:nvPr/>
        </p:nvSpPr>
        <p:spPr>
          <a:xfrm>
            <a:off x="2933700" y="3114675"/>
            <a:ext cx="1828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25 days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2DFA7-AF29-40D2-AAC5-BACBC11E5080}"/>
              </a:ext>
            </a:extLst>
          </p:cNvPr>
          <p:cNvSpPr>
            <a:spLocks noGrp="1"/>
          </p:cNvSpPr>
          <p:nvPr/>
        </p:nvSpPr>
        <p:spPr>
          <a:xfrm>
            <a:off x="5105400" y="2352675"/>
            <a:ext cx="198120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" name="text-10">
            <a:extLst>
              <a:ext uri="{FF2B5EF4-FFF2-40B4-BE49-F238E27FC236}">
                <a16:creationId xmlns:a16="http://schemas.microsoft.com/office/drawing/2014/main" id="{D8B4FCAD-2584-4834-BA89-63A8E83DF4B6}"/>
              </a:ext>
            </a:extLst>
          </p:cNvPr>
          <p:cNvSpPr>
            <a:spLocks noGrp="1"/>
          </p:cNvSpPr>
          <p:nvPr/>
        </p:nvSpPr>
        <p:spPr>
          <a:xfrm>
            <a:off x="5181600" y="2533650"/>
            <a:ext cx="1828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Adjust risk</a:t>
            </a:r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45A2FFB4-CB69-47B7-B6E6-0FE21A54CC12}"/>
              </a:ext>
            </a:extLst>
          </p:cNvPr>
          <p:cNvSpPr>
            <a:spLocks noGrp="1"/>
          </p:cNvSpPr>
          <p:nvPr/>
        </p:nvSpPr>
        <p:spPr>
          <a:xfrm>
            <a:off x="5181600" y="3114675"/>
            <a:ext cx="1828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25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03E931-91D4-4ABC-A225-4D47B924F0D5}"/>
              </a:ext>
            </a:extLst>
          </p:cNvPr>
          <p:cNvSpPr>
            <a:spLocks noGrp="1"/>
          </p:cNvSpPr>
          <p:nvPr/>
        </p:nvSpPr>
        <p:spPr>
          <a:xfrm>
            <a:off x="7353300" y="2352675"/>
            <a:ext cx="198120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" name="text-13">
            <a:extLst>
              <a:ext uri="{FF2B5EF4-FFF2-40B4-BE49-F238E27FC236}">
                <a16:creationId xmlns:a16="http://schemas.microsoft.com/office/drawing/2014/main" id="{3A89A701-C9AD-4417-A1E3-A397FD6F1817}"/>
              </a:ext>
            </a:extLst>
          </p:cNvPr>
          <p:cNvSpPr>
            <a:spLocks noGrp="1"/>
          </p:cNvSpPr>
          <p:nvPr/>
        </p:nvSpPr>
        <p:spPr>
          <a:xfrm>
            <a:off x="7429500" y="2533650"/>
            <a:ext cx="1828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Choose flag</a:t>
            </a:r>
          </a:p>
        </p:txBody>
      </p:sp>
      <p:sp>
        <p:nvSpPr>
          <p:cNvPr id="14" name="text-14">
            <a:extLst>
              <a:ext uri="{FF2B5EF4-FFF2-40B4-BE49-F238E27FC236}">
                <a16:creationId xmlns:a16="http://schemas.microsoft.com/office/drawing/2014/main" id="{BE74F953-C2B1-441C-B020-1CA58F62A412}"/>
              </a:ext>
            </a:extLst>
          </p:cNvPr>
          <p:cNvSpPr>
            <a:spLocks noGrp="1"/>
          </p:cNvSpPr>
          <p:nvPr/>
        </p:nvSpPr>
        <p:spPr>
          <a:xfrm>
            <a:off x="7429500" y="3114675"/>
            <a:ext cx="1828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0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25 days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BFBE7E-7E41-4912-9C9A-7251EFEC339B}"/>
              </a:ext>
            </a:extLst>
          </p:cNvPr>
          <p:cNvSpPr>
            <a:spLocks noGrp="1"/>
          </p:cNvSpPr>
          <p:nvPr/>
        </p:nvSpPr>
        <p:spPr>
          <a:xfrm>
            <a:off x="9601200" y="2352675"/>
            <a:ext cx="1981200" cy="1428750"/>
          </a:xfrm>
          <a:prstGeom prst="rect">
            <a:avLst/>
          </a:prstGeom>
          <a:solidFill>
            <a:srgbClr val="E7F3F2"/>
          </a:solidFill>
          <a:ln w="19050">
            <a:solidFill>
              <a:srgbClr val="087F83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" name="text-16">
            <a:extLst>
              <a:ext uri="{FF2B5EF4-FFF2-40B4-BE49-F238E27FC236}">
                <a16:creationId xmlns:a16="http://schemas.microsoft.com/office/drawing/2014/main" id="{77E60EA1-E970-499C-BB23-8C76D07C8EAC}"/>
              </a:ext>
            </a:extLst>
          </p:cNvPr>
          <p:cNvSpPr>
            <a:spLocks noGrp="1"/>
          </p:cNvSpPr>
          <p:nvPr/>
        </p:nvSpPr>
        <p:spPr>
          <a:xfrm>
            <a:off x="9677400" y="2533650"/>
            <a:ext cx="1828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Final test</a:t>
            </a:r>
          </a:p>
        </p:txBody>
      </p:sp>
      <p:sp>
        <p:nvSpPr>
          <p:cNvPr id="17" name="text-17">
            <a:extLst>
              <a:ext uri="{FF2B5EF4-FFF2-40B4-BE49-F238E27FC236}">
                <a16:creationId xmlns:a16="http://schemas.microsoft.com/office/drawing/2014/main" id="{4635B646-D201-4C40-9732-D405C332CDE9}"/>
              </a:ext>
            </a:extLst>
          </p:cNvPr>
          <p:cNvSpPr>
            <a:spLocks noGrp="1"/>
          </p:cNvSpPr>
          <p:nvPr/>
        </p:nvSpPr>
        <p:spPr>
          <a:xfrm>
            <a:off x="9677400" y="3114675"/>
            <a:ext cx="1828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75 days</a:t>
            </a:r>
          </a:p>
        </p:txBody>
      </p:sp>
      <p:sp>
        <p:nvSpPr>
          <p:cNvPr id="22" name="text-22">
            <a:extLst>
              <a:ext uri="{FF2B5EF4-FFF2-40B4-BE49-F238E27FC236}">
                <a16:creationId xmlns:a16="http://schemas.microsoft.com/office/drawing/2014/main" id="{A115D28B-AFA6-4B10-955A-B2856BF05486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10572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Each block has a different job. The boxes show sequence rather than duration.</a:t>
            </a:r>
          </a:p>
        </p:txBody>
      </p:sp>
      <p:sp>
        <p:nvSpPr>
          <p:cNvPr id="23" name="text-23">
            <a:extLst>
              <a:ext uri="{FF2B5EF4-FFF2-40B4-BE49-F238E27FC236}">
                <a16:creationId xmlns:a16="http://schemas.microsoft.com/office/drawing/2014/main" id="{E17F58C3-3EAF-4F40-A4B5-624FCF6B9F1D}"/>
              </a:ext>
            </a:extLst>
          </p:cNvPr>
          <p:cNvSpPr>
            <a:spLocks noGrp="1"/>
          </p:cNvSpPr>
          <p:nvPr/>
        </p:nvSpPr>
        <p:spPr>
          <a:xfrm>
            <a:off x="666750" y="5276850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Final classifier test</a:t>
            </a:r>
          </a:p>
          <a:p>
            <a:pPr algn="l">
              <a:defRPr sz="23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27 February to 12 May 2021</a:t>
            </a:r>
          </a:p>
        </p:txBody>
      </p:sp>
    </p:spTree>
    <p:extLst>
      <p:ext uri="{BB962C8B-B14F-4D97-AF65-F5344CB8AC3E}">
        <p14:creationId xmlns:p14="http://schemas.microsoft.com/office/powerpoint/2010/main" val="103224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">
            <a:extLst>
              <a:ext uri="{FF2B5EF4-FFF2-40B4-BE49-F238E27FC236}">
                <a16:creationId xmlns:a16="http://schemas.microsoft.com/office/drawing/2014/main" id="{1DE43D9C-96DA-4E24-A8B8-856B6C33FD1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Next-week inputs can already be known today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1418E958-424E-4696-A17A-6837034B7240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A3A6DDC3-D164-43CD-B1ED-A7BBAD6984FD}"/>
              </a:ext>
            </a:extLst>
          </p:cNvPr>
          <p:cNvSpPr>
            <a:spLocks noGrp="1"/>
          </p:cNvSpPr>
          <p:nvPr/>
        </p:nvSpPr>
        <p:spPr>
          <a:xfrm>
            <a:off x="657225" y="168592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Lag 7 means the recorded count seven days before the forecast date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993F03-A253-42DB-A76F-5C132597E0C7}"/>
              </a:ext>
            </a:extLst>
          </p:cNvPr>
          <p:cNvGraphicFramePr/>
          <p:nvPr/>
        </p:nvGraphicFramePr>
        <p:xfrm>
          <a:off x="609600" y="2628900"/>
          <a:ext cx="10972800" cy="2257425"/>
        </p:xfrm>
        <a:graphic>
          <a:graphicData uri="http://schemas.openxmlformats.org/drawingml/2006/table">
            <a:tbl>
              <a:tblPr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Known date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12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Bookings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Forecast date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13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14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15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16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17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18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19 May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-4">
            <a:extLst>
              <a:ext uri="{FF2B5EF4-FFF2-40B4-BE49-F238E27FC236}">
                <a16:creationId xmlns:a16="http://schemas.microsoft.com/office/drawing/2014/main" id="{5F3C5743-FA01-4463-B9D6-23837716FB84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106203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Other inputs use lags of 14, 21 and 28 days, an earlier weekly mean, weekday and month. The supported horizon is one to seven days.</a:t>
            </a:r>
          </a:p>
        </p:txBody>
      </p:sp>
    </p:spTree>
    <p:extLst>
      <p:ext uri="{BB962C8B-B14F-4D97-AF65-F5344CB8AC3E}">
        <p14:creationId xmlns:p14="http://schemas.microsoft.com/office/powerpoint/2010/main" val="6896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">
            <a:extLst>
              <a:ext uri="{FF2B5EF4-FFF2-40B4-BE49-F238E27FC236}">
                <a16:creationId xmlns:a16="http://schemas.microsoft.com/office/drawing/2014/main" id="{2400EB18-CE90-42B1-AFFD-0CAF1C6EB5E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Each specialty keeps the method that validated best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1EA151FF-DF04-4ECF-B070-6269E4AFFBCF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AF575A-2391-4138-99F5-67D9D5B40917}"/>
              </a:ext>
            </a:extLst>
          </p:cNvPr>
          <p:cNvGraphicFramePr/>
          <p:nvPr/>
        </p:nvGraphicFramePr>
        <p:xfrm>
          <a:off x="609600" y="1743075"/>
          <a:ext cx="10972800" cy="329565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it makes a forecast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Seasonal naive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Repeat the count from the same weekday last week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Exponential smoothing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Smooth the recent level, trend and weekly pattern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SARIMA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Model dependence between days and weekly cycles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Learn the relationship between known inputs and counts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-3">
            <a:extLst>
              <a:ext uri="{FF2B5EF4-FFF2-40B4-BE49-F238E27FC236}">
                <a16:creationId xmlns:a16="http://schemas.microsoft.com/office/drawing/2014/main" id="{F19B1E2E-46AC-437D-9EB5-4F042599004B}"/>
              </a:ext>
            </a:extLst>
          </p:cNvPr>
          <p:cNvSpPr>
            <a:spLocks noGrp="1"/>
          </p:cNvSpPr>
          <p:nvPr/>
        </p:nvSpPr>
        <p:spPr>
          <a:xfrm>
            <a:off x="666750" y="535305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MAE is the average absolute error in daily appointment counts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5E5A358-4CF4-421B-BBCC-7B0483B48936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57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Select: 28 days. Estimate bands: 28 later days. Test: 56 days.</a:t>
            </a:r>
          </a:p>
        </p:txBody>
      </p:sp>
    </p:spTree>
    <p:extLst>
      <p:ext uri="{BB962C8B-B14F-4D97-AF65-F5344CB8AC3E}">
        <p14:creationId xmlns:p14="http://schemas.microsoft.com/office/powerpoint/2010/main" val="1703218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">
            <a:extLst>
              <a:ext uri="{FF2B5EF4-FFF2-40B4-BE49-F238E27FC236}">
                <a16:creationId xmlns:a16="http://schemas.microsoft.com/office/drawing/2014/main" id="{EC9AD4E2-2007-4F52-8402-4FB85B8EA70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One appointment becomes a risk estimate and a flag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B8881521-B73C-4B3F-A8A1-C62BC2B66443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9DFC50EC-0018-4CE3-A252-64A00FFB43B7}"/>
              </a:ext>
            </a:extLst>
          </p:cNvPr>
          <p:cNvSpPr>
            <a:spLocks noGrp="1"/>
          </p:cNvSpPr>
          <p:nvPr/>
        </p:nvSpPr>
        <p:spPr>
          <a:xfrm>
            <a:off x="657225" y="165735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Illustrative form input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F048B6-8941-484F-B24F-58499782C2BD}"/>
              </a:ext>
            </a:extLst>
          </p:cNvPr>
          <p:cNvGraphicFramePr/>
          <p:nvPr/>
        </p:nvGraphicFramePr>
        <p:xfrm>
          <a:off x="609600" y="2286000"/>
          <a:ext cx="4772025" cy="276225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value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Date and time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13 May 2021, 1PM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Age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18 years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Specialty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4">
            <a:extLst>
              <a:ext uri="{FF2B5EF4-FFF2-40B4-BE49-F238E27FC236}">
                <a16:creationId xmlns:a16="http://schemas.microsoft.com/office/drawing/2014/main" id="{7D03336A-81DA-4F0A-8079-50F8046AF7F2}"/>
              </a:ext>
            </a:extLst>
          </p:cNvPr>
          <p:cNvSpPr>
            <a:spLocks noGrp="1"/>
          </p:cNvSpPr>
          <p:nvPr/>
        </p:nvSpPr>
        <p:spPr>
          <a:xfrm>
            <a:off x="6115050" y="1685925"/>
            <a:ext cx="5314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Genuine Streamlit response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3D8D2-D881-464A-963C-9FC733AD1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15050" y="2668844"/>
            <a:ext cx="5334000" cy="1367913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A00F9B58-5A2F-49A7-883E-52038CA5F7E2}"/>
              </a:ext>
            </a:extLst>
          </p:cNvPr>
          <p:cNvSpPr>
            <a:spLocks noGrp="1"/>
          </p:cNvSpPr>
          <p:nvPr/>
        </p:nvSpPr>
        <p:spPr>
          <a:xfrm>
            <a:off x="6153150" y="4629150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Threshold: 25.5%</a:t>
            </a:r>
          </a:p>
          <a:p>
            <a:pPr algn="l">
              <a:defRPr sz="217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Above the follow-up threshold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5029E1D7-34D0-4BA9-B555-67851852F759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715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This is an individual risk estimate. It does not guarantee attendance.</a:t>
            </a:r>
          </a:p>
        </p:txBody>
      </p:sp>
    </p:spTree>
    <p:extLst>
      <p:ext uri="{BB962C8B-B14F-4D97-AF65-F5344CB8AC3E}">
        <p14:creationId xmlns:p14="http://schemas.microsoft.com/office/powerpoint/2010/main" val="213984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">
            <a:extLst>
              <a:ext uri="{FF2B5EF4-FFF2-40B4-BE49-F238E27FC236}">
                <a16:creationId xmlns:a16="http://schemas.microsoft.com/office/drawing/2014/main" id="{CFCE03BA-4579-4A9A-B82B-AC6E2B01B50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The classifier finds signal but misses the required goals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429F9E76-485E-4B24-80C2-C14BC587E7DB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8DFFEF-34FF-4869-BBEE-C160BCE13CDE}"/>
              </a:ext>
            </a:extLst>
          </p:cNvPr>
          <p:cNvGraphicFramePr/>
          <p:nvPr/>
        </p:nvGraphicFramePr>
        <p:xfrm>
          <a:off x="609600" y="1962150"/>
          <a:ext cx="10972800" cy="23050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83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metric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Measured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No-show F1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&gt; 0.70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0.517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Below goal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&gt; 0.75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0.684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Below goal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-3">
            <a:extLst>
              <a:ext uri="{FF2B5EF4-FFF2-40B4-BE49-F238E27FC236}">
                <a16:creationId xmlns:a16="http://schemas.microsoft.com/office/drawing/2014/main" id="{5C155AEC-C2B8-4509-835F-083981AE063E}"/>
              </a:ext>
            </a:extLst>
          </p:cNvPr>
          <p:cNvSpPr>
            <a:spLocks noGrp="1"/>
          </p:cNvSpPr>
          <p:nvPr/>
        </p:nvSpPr>
        <p:spPr>
          <a:xfrm>
            <a:off x="666750" y="46291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F1 checks the balance of missed visits found and false alarms.</a:t>
            </a:r>
          </a:p>
          <a:p>
            <a: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ROC-AUC checks ranking quality. A value of 0.5 represents chance ranking.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B5BBA07-A9BE-4471-A395-7989FBDAA15B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Precision–recall area: 0.487, compared with a 0.310 prevalence baseline</a:t>
            </a:r>
          </a:p>
        </p:txBody>
      </p:sp>
    </p:spTree>
    <p:extLst>
      <p:ext uri="{BB962C8B-B14F-4D97-AF65-F5344CB8AC3E}">
        <p14:creationId xmlns:p14="http://schemas.microsoft.com/office/powerpoint/2010/main" val="80850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">
            <a:extLst>
              <a:ext uri="{FF2B5EF4-FFF2-40B4-BE49-F238E27FC236}">
                <a16:creationId xmlns:a16="http://schemas.microsoft.com/office/drawing/2014/main" id="{EE42FE61-8492-4CE8-845C-D136A473FB4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Forecast errors remain too large for staffing use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A7DB29ED-28B2-47A4-9A99-9DFB0285CA42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966B0E7-4E5A-4B8A-B7CE-15127054F87A}"/>
              </a:ext>
            </a:extLst>
          </p:cNvPr>
          <p:cNvGraphicFramePr/>
          <p:nvPr/>
        </p:nvGraphicFramePr>
        <p:xfrm>
          <a:off x="609600" y="1838325"/>
          <a:ext cx="7381875" cy="377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-3">
            <a:extLst>
              <a:ext uri="{FF2B5EF4-FFF2-40B4-BE49-F238E27FC236}">
                <a16:creationId xmlns:a16="http://schemas.microsoft.com/office/drawing/2014/main" id="{CD58F0E2-C5F5-423E-958D-144A792C85D4}"/>
              </a:ext>
            </a:extLst>
          </p:cNvPr>
          <p:cNvSpPr>
            <a:spLocks noGrp="1"/>
          </p:cNvSpPr>
          <p:nvPr/>
        </p:nvSpPr>
        <p:spPr>
          <a:xfrm>
            <a:off x="8534400" y="1847850"/>
            <a:ext cx="2990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MAE: 169.95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88EA783E-CB79-45DF-A72F-10334E84CFB4}"/>
              </a:ext>
            </a:extLst>
          </p:cNvPr>
          <p:cNvSpPr>
            <a:spLocks noGrp="1"/>
          </p:cNvSpPr>
          <p:nvPr/>
        </p:nvSpPr>
        <p:spPr>
          <a:xfrm>
            <a:off x="8562975" y="2343150"/>
            <a:ext cx="295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appointments per day</a:t>
            </a:r>
          </a:p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Baseline MAE: 193.13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714E0DB-F9F9-44B0-AF35-8727F5131D8F}"/>
              </a:ext>
            </a:extLst>
          </p:cNvPr>
          <p:cNvSpPr>
            <a:spLocks noGrp="1"/>
          </p:cNvSpPr>
          <p:nvPr/>
        </p:nvSpPr>
        <p:spPr>
          <a:xfrm>
            <a:off x="8534400" y="3152775"/>
            <a:ext cx="30289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1">
                <a:solidFill>
                  <a:srgbClr val="9A5D0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A5D0A"/>
                </a:solidFill>
                <a:latin typeface="Arial"/>
                <a:ea typeface="Arial"/>
                <a:cs typeface="Arial"/>
              </a:rPr>
              <a:t>MAPE: 5,394.2%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6B896E4-2D62-44F8-B239-9445B4C44E6D}"/>
              </a:ext>
            </a:extLst>
          </p:cNvPr>
          <p:cNvSpPr>
            <a:spLocks noGrp="1"/>
          </p:cNvSpPr>
          <p:nvPr/>
        </p:nvSpPr>
        <p:spPr>
          <a:xfrm>
            <a:off x="8562975" y="3648075"/>
            <a:ext cx="2952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Goal: below 20%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2BA2AC12-DEF3-4239-8EFD-227421648648}"/>
              </a:ext>
            </a:extLst>
          </p:cNvPr>
          <p:cNvSpPr>
            <a:spLocks noGrp="1"/>
          </p:cNvSpPr>
          <p:nvPr/>
        </p:nvSpPr>
        <p:spPr>
          <a:xfrm>
            <a:off x="8534400" y="4248150"/>
            <a:ext cx="2990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R²: −0.116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9BB25C5-3440-4CBC-A289-FE4450563C73}"/>
              </a:ext>
            </a:extLst>
          </p:cNvPr>
          <p:cNvSpPr>
            <a:spLocks noGrp="1"/>
          </p:cNvSpPr>
          <p:nvPr/>
        </p:nvSpPr>
        <p:spPr>
          <a:xfrm>
            <a:off x="8562975" y="4695825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Goal: above 0.65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BD848FB5-B450-4AA5-B69B-52986658E6F2}"/>
              </a:ext>
            </a:extLst>
          </p:cNvPr>
          <p:cNvSpPr>
            <a:spLocks noGrp="1"/>
          </p:cNvSpPr>
          <p:nvPr/>
        </p:nvSpPr>
        <p:spPr>
          <a:xfrm>
            <a:off x="8562975" y="5143500"/>
            <a:ext cx="2952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90% band coverage</a:t>
            </a:r>
          </a:p>
          <a:p>
            <a: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Measured: 78.6%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9225C525-BE07-4C1D-9942-F63A285B8DA4}"/>
              </a:ext>
            </a:extLst>
          </p:cNvPr>
          <p:cNvSpPr>
            <a:spLocks noGrp="1"/>
          </p:cNvSpPr>
          <p:nvPr/>
        </p:nvSpPr>
        <p:spPr>
          <a:xfrm>
            <a:off x="666750" y="5895975"/>
            <a:ext cx="10610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On 36 of 56 test days, only 1–5 bookings made percentage errors very sensitive.</a:t>
            </a:r>
          </a:p>
        </p:txBody>
      </p:sp>
    </p:spTree>
    <p:extLst>
      <p:ext uri="{BB962C8B-B14F-4D97-AF65-F5344CB8AC3E}">
        <p14:creationId xmlns:p14="http://schemas.microsoft.com/office/powerpoint/2010/main" val="362325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1">
            <a:extLst>
              <a:ext uri="{FF2B5EF4-FFF2-40B4-BE49-F238E27FC236}">
                <a16:creationId xmlns:a16="http://schemas.microsoft.com/office/drawing/2014/main" id="{E7DD6CA8-C83C-473F-82D1-A354B469E3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Software checks pass while predictive quality remains limited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A26677A7-8B8C-4C22-92B9-C0820FE884BA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759A34-F4D2-400E-ABDB-AD7332629A91}"/>
              </a:ext>
            </a:extLst>
          </p:cNvPr>
          <p:cNvGraphicFramePr/>
          <p:nvPr/>
        </p:nvGraphicFramePr>
        <p:xfrm>
          <a:off x="609600" y="1676400"/>
          <a:ext cx="10972800" cy="42862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evidence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>
                      <a:solidFill>
                        <a:srgbClr val="D6E3E5"/>
                      </a:solidFill>
                      <a:prstDash val="soli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14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Notebook execution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33 cells; no stored errors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Real-data notebook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Model reloading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Predictions preserved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Saved classifier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Illustrative app response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63.1% matches direct inference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Current app and model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App and feature checks</a:t>
                      </a:r>
                    </a:p>
                  </a:txBody>
                  <a:tcPr marL="152400" marR="152400" marT="133350" marB="133350" anchor="ctr">
                    <a:lnL w="9525">
                      <a:solidFill>
                        <a:srgbClr val="D6E3E5"/>
                      </a:solidFill>
                      <a:prstDash val="soli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5 scenarios plus feature checks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13C"/>
                          </a:solidFill>
                          <a:latin typeface="Arial"/>
                          <a:ea typeface="Arial"/>
                          <a:cs typeface="Arial"/>
                        </a:rPr>
                        <a:t>Synthetic fixtures</a:t>
                      </a:r>
                    </a:p>
                  </a:txBody>
                  <a:tcPr marL="152400" marR="152400" marT="133350" marB="133350" anchor="ctr">
                    <a:lnL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3E5"/>
                      </a:solidFill>
                      <a:prstDash val="solid"/>
                    </a:lnR>
                    <a:lnT w="9525" cap="flat" cmpd="sng" algn="ctr">
                      <a:solidFill>
                        <a:srgbClr val="D6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3E5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-3">
            <a:extLst>
              <a:ext uri="{FF2B5EF4-FFF2-40B4-BE49-F238E27FC236}">
                <a16:creationId xmlns:a16="http://schemas.microsoft.com/office/drawing/2014/main" id="{AED92BBE-7787-472C-9162-689735535513}"/>
              </a:ext>
            </a:extLst>
          </p:cNvPr>
          <p:cNvSpPr>
            <a:spLocks noGrp="1"/>
          </p:cNvSpPr>
          <p:nvPr/>
        </p:nvSpPr>
        <p:spPr>
          <a:xfrm>
            <a:off x="666750" y="609600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Notebook warm classifier inference: 1.4 ms. Startup and rendering excluded.</a:t>
            </a:r>
          </a:p>
        </p:txBody>
      </p:sp>
    </p:spTree>
    <p:extLst>
      <p:ext uri="{BB962C8B-B14F-4D97-AF65-F5344CB8AC3E}">
        <p14:creationId xmlns:p14="http://schemas.microsoft.com/office/powerpoint/2010/main" val="420207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1">
            <a:extLst>
              <a:ext uri="{FF2B5EF4-FFF2-40B4-BE49-F238E27FC236}">
                <a16:creationId xmlns:a16="http://schemas.microsoft.com/office/drawing/2014/main" id="{A6A73BF9-C5EC-44C1-82EA-476CEFAE5B7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The current system is a historical proof of concept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3A9439FA-D2E2-4C3E-BC43-6594B080A281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57FAC2FE-E99A-4A38-B1EE-2269024CF240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Missing identifiers and timestamps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BA9D29E5-A870-4E75-BDC0-050B718C40D7}"/>
              </a:ext>
            </a:extLst>
          </p:cNvPr>
          <p:cNvSpPr>
            <a:spLocks noGrp="1"/>
          </p:cNvSpPr>
          <p:nvPr/>
        </p:nvSpPr>
        <p:spPr>
          <a:xfrm>
            <a:off x="647700" y="2219325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Historical advance-scoring populations cannot be reconstructed fully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5104FCB1-5E52-48CD-91B9-7F09CB1D051C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Unresolved field meanings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2BB73AB8-78A3-497D-AB2B-6E5826908D5F}"/>
              </a:ext>
            </a:extLst>
          </p:cNvPr>
          <p:cNvSpPr>
            <a:spLocks noGrp="1"/>
          </p:cNvSpPr>
          <p:nvPr/>
        </p:nvSpPr>
        <p:spPr>
          <a:xfrm>
            <a:off x="647700" y="32956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City, age-flag and calendar interpretations remain uncertain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14CF781F-53C1-456D-A7FF-4F89B24339B4}"/>
              </a:ext>
            </a:extLst>
          </p:cNvPr>
          <p:cNvSpPr>
            <a:spLocks noGrp="1"/>
          </p:cNvSpPr>
          <p:nvPr/>
        </p:nvSpPr>
        <p:spPr>
          <a:xfrm>
            <a:off x="647700" y="394335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Reproducibility gaps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490E5D2F-73FD-4121-A890-5877E6D02D53}"/>
              </a:ext>
            </a:extLst>
          </p:cNvPr>
          <p:cNvSpPr>
            <a:spLocks noGrp="1"/>
          </p:cNvSpPr>
          <p:nvPr/>
        </p:nvSpPr>
        <p:spPr>
          <a:xfrm>
            <a:off x="647700" y="4371975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Runtime pins, documentation and displayed outputs need one consistent run</a:t>
            </a:r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A748BB4A-B695-4AE1-BEBA-939034C5C554}"/>
              </a:ext>
            </a:extLst>
          </p:cNvPr>
          <p:cNvSpPr>
            <a:spLocks noGrp="1"/>
          </p:cNvSpPr>
          <p:nvPr/>
        </p:nvSpPr>
        <p:spPr>
          <a:xfrm>
            <a:off x="647700" y="50196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Limited operational evidence</a:t>
            </a:r>
          </a:p>
        </p:txBody>
      </p:sp>
      <p:sp>
        <p:nvSpPr>
          <p:cNvPr id="10" name="text-10">
            <a:extLst>
              <a:ext uri="{FF2B5EF4-FFF2-40B4-BE49-F238E27FC236}">
                <a16:creationId xmlns:a16="http://schemas.microsoft.com/office/drawing/2014/main" id="{D14E1ED0-01B2-4707-9F4A-DEAB9250D853}"/>
              </a:ext>
            </a:extLst>
          </p:cNvPr>
          <p:cNvSpPr>
            <a:spLocks noGrp="1"/>
          </p:cNvSpPr>
          <p:nvPr/>
        </p:nvSpPr>
        <p:spPr>
          <a:xfrm>
            <a:off x="647700" y="54483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No live clinic feed, measured reminder effect or proven staffing savings</a:t>
            </a:r>
          </a:p>
        </p:txBody>
      </p:sp>
    </p:spTree>
    <p:extLst>
      <p:ext uri="{BB962C8B-B14F-4D97-AF65-F5344CB8AC3E}">
        <p14:creationId xmlns:p14="http://schemas.microsoft.com/office/powerpoint/2010/main" val="1999969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">
            <a:extLst>
              <a:ext uri="{FF2B5EF4-FFF2-40B4-BE49-F238E27FC236}">
                <a16:creationId xmlns:a16="http://schemas.microsoft.com/office/drawing/2014/main" id="{E516CD21-7CEE-4FA7-9A6E-E17AB14DEB3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Priority 1: trustworthy data and a repeatable run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2DCB1B18-9108-40A8-AACC-3E2752D69EF8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D64BCA2E-BAEA-47F0-927F-0347AF290885}"/>
              </a:ext>
            </a:extLst>
          </p:cNvPr>
          <p:cNvSpPr>
            <a:spLocks noGrp="1"/>
          </p:cNvSpPr>
          <p:nvPr/>
        </p:nvSpPr>
        <p:spPr>
          <a:xfrm>
            <a:off x="619125" y="17526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Current gap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7F13DAC2-FAA7-47E7-BEC1-B83AB9A3A15B}"/>
              </a:ext>
            </a:extLst>
          </p:cNvPr>
          <p:cNvSpPr>
            <a:spLocks noGrp="1"/>
          </p:cNvSpPr>
          <p:nvPr/>
        </p:nvSpPr>
        <p:spPr>
          <a:xfrm>
            <a:off x="619125" y="22193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Field meanings need confirmation.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Evidence and runtime pins differ.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1BD5E806-C066-44C9-B284-691684CBBC0D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Specific change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2C44D54F-0425-4F35-9776-FF0730DD1E46}"/>
              </a:ext>
            </a:extLst>
          </p:cNvPr>
          <p:cNvSpPr>
            <a:spLocks noGrp="1"/>
          </p:cNvSpPr>
          <p:nvPr/>
        </p:nvSpPr>
        <p:spPr>
          <a:xfrm>
            <a:off x="6305550" y="221932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Agree field definitions and rules.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Pin one runtime.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E2D03582-7168-4259-9A01-B657D1789E32}"/>
              </a:ext>
            </a:extLst>
          </p:cNvPr>
          <p:cNvSpPr>
            <a:spLocks noGrp="1"/>
          </p:cNvSpPr>
          <p:nvPr/>
        </p:nvSpPr>
        <p:spPr>
          <a:xfrm>
            <a:off x="619125" y="36576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How it would work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3CF6527B-1B63-4CEA-8A0E-2433BEB27A78}"/>
              </a:ext>
            </a:extLst>
          </p:cNvPr>
          <p:cNvSpPr>
            <a:spLocks noGrp="1"/>
          </p:cNvSpPr>
          <p:nvPr/>
        </p:nvSpPr>
        <p:spPr>
          <a:xfrm>
            <a:off x="619125" y="41243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Audit counts and hash the CSV.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Regenerate every output together.</a:t>
            </a:r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958EFC8E-4B7C-4883-9614-E8D13ACDB032}"/>
              </a:ext>
            </a:extLst>
          </p:cNvPr>
          <p:cNvSpPr>
            <a:spLocks noGrp="1"/>
          </p:cNvSpPr>
          <p:nvPr/>
        </p:nvSpPr>
        <p:spPr>
          <a:xfrm>
            <a:off x="6305550" y="3657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Benefit and success check</a:t>
            </a:r>
          </a:p>
        </p:txBody>
      </p:sp>
      <p:sp>
        <p:nvSpPr>
          <p:cNvPr id="10" name="text-10">
            <a:extLst>
              <a:ext uri="{FF2B5EF4-FFF2-40B4-BE49-F238E27FC236}">
                <a16:creationId xmlns:a16="http://schemas.microsoft.com/office/drawing/2014/main" id="{261AEA91-294A-4A5A-815C-219CBF90DF75}"/>
              </a:ext>
            </a:extLst>
          </p:cNvPr>
          <p:cNvSpPr>
            <a:spLocks noGrp="1"/>
          </p:cNvSpPr>
          <p:nvPr/>
        </p:nvSpPr>
        <p:spPr>
          <a:xfrm>
            <a:off x="6305550" y="412432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A clean rerun matches the counts,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metrics and saved predictions.</a:t>
            </a:r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0310327E-4BC7-4B4D-9C79-8C101DE57EBE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Proposed work. Effort: medium, with clinic review and runtime cleanup.</a:t>
            </a:r>
          </a:p>
        </p:txBody>
      </p:sp>
    </p:spTree>
    <p:extLst>
      <p:ext uri="{BB962C8B-B14F-4D97-AF65-F5344CB8AC3E}">
        <p14:creationId xmlns:p14="http://schemas.microsoft.com/office/powerpoint/2010/main" val="2121142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">
            <a:extLst>
              <a:ext uri="{FF2B5EF4-FFF2-40B4-BE49-F238E27FC236}">
                <a16:creationId xmlns:a16="http://schemas.microsoft.com/office/drawing/2014/main" id="{03296806-80B3-4D81-ABD2-230F6F2C96E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Priority 1: inputs that reflect the scoring moment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B7C15C9D-182C-4994-924B-9A99D6FA2020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DAF859D4-CF17-4D56-90DD-CFCB0961E404}"/>
              </a:ext>
            </a:extLst>
          </p:cNvPr>
          <p:cNvSpPr>
            <a:spLocks noGrp="1"/>
          </p:cNvSpPr>
          <p:nvPr/>
        </p:nvSpPr>
        <p:spPr>
          <a:xfrm>
            <a:off x="619125" y="17526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Current gap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CEF87ABE-B833-4279-8C08-89B17FF7DE51}"/>
              </a:ext>
            </a:extLst>
          </p:cNvPr>
          <p:cNvSpPr>
            <a:spLocks noGrp="1"/>
          </p:cNvSpPr>
          <p:nvPr/>
        </p:nvSpPr>
        <p:spPr>
          <a:xfrm>
            <a:off x="619125" y="22193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No booking times or patient history.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Input availability is uncertain.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C97962B9-558F-43C0-88D9-14198CBF9820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Specific change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EB3E17A5-F40D-46B8-9542-A029B4037F84}"/>
              </a:ext>
            </a:extLst>
          </p:cNvPr>
          <p:cNvSpPr>
            <a:spLocks noGrp="1"/>
          </p:cNvSpPr>
          <p:nvPr/>
        </p:nvSpPr>
        <p:spPr>
          <a:xfrm>
            <a:off x="6305550" y="221932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Collect IDs and event timestamps.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Add cancellations and closures.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1224D55F-F32A-46E7-9CE1-E3FEB965E5D3}"/>
              </a:ext>
            </a:extLst>
          </p:cNvPr>
          <p:cNvSpPr>
            <a:spLocks noGrp="1"/>
          </p:cNvSpPr>
          <p:nvPr/>
        </p:nvSpPr>
        <p:spPr>
          <a:xfrm>
            <a:off x="619125" y="36576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How it would work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41AF42C1-4104-499E-85E7-4DFC2C0305D1}"/>
              </a:ext>
            </a:extLst>
          </p:cNvPr>
          <p:cNvSpPr>
            <a:spLocks noGrp="1"/>
          </p:cNvSpPr>
          <p:nvPr/>
        </p:nvSpPr>
        <p:spPr>
          <a:xfrm>
            <a:off x="619125" y="41243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Rebuild each scoring moment.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Use only inputs already known.</a:t>
            </a:r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99FAFD65-E914-4497-8B7B-E7CD198AD2DD}"/>
              </a:ext>
            </a:extLst>
          </p:cNvPr>
          <p:cNvSpPr>
            <a:spLocks noGrp="1"/>
          </p:cNvSpPr>
          <p:nvPr/>
        </p:nvSpPr>
        <p:spPr>
          <a:xfrm>
            <a:off x="6305550" y="3657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Benefit and success check</a:t>
            </a:r>
          </a:p>
        </p:txBody>
      </p:sp>
      <p:sp>
        <p:nvSpPr>
          <p:cNvPr id="10" name="text-10">
            <a:extLst>
              <a:ext uri="{FF2B5EF4-FFF2-40B4-BE49-F238E27FC236}">
                <a16:creationId xmlns:a16="http://schemas.microsoft.com/office/drawing/2014/main" id="{651926D2-E3D8-4F8C-A1D2-48955CD01125}"/>
              </a:ext>
            </a:extLst>
          </p:cNvPr>
          <p:cNvSpPr>
            <a:spLocks noGrp="1"/>
          </p:cNvSpPr>
          <p:nvPr/>
        </p:nvSpPr>
        <p:spPr>
          <a:xfrm>
            <a:off x="6305550" y="412432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Verifiable advance-scoring inputs.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Audit availability, then test new dates.</a:t>
            </a:r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F78A983C-A34E-4CDC-822F-B9380045E51D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Proposed work. Effort: medium to high because clinic system integration is needed.</a:t>
            </a:r>
          </a:p>
        </p:txBody>
      </p:sp>
    </p:spTree>
    <p:extLst>
      <p:ext uri="{BB962C8B-B14F-4D97-AF65-F5344CB8AC3E}">
        <p14:creationId xmlns:p14="http://schemas.microsoft.com/office/powerpoint/2010/main" val="449402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1">
            <a:extLst>
              <a:ext uri="{FF2B5EF4-FFF2-40B4-BE49-F238E27FC236}">
                <a16:creationId xmlns:a16="http://schemas.microsoft.com/office/drawing/2014/main" id="{E4660CA3-03A7-4216-BA93-29D917896CB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13C"/>
                </a:solidFill>
                <a:latin typeface="Arial"/>
                <a:ea typeface="Arial"/>
                <a:cs typeface="Arial"/>
              </a:rPr>
              <a:t>Priority 2: a pilot that measures actual clinic benefit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AB2E50B7-5EDF-4BA4-8FD4-94EC26846D52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6837628F-F3D0-4570-9104-46332177A8F7}"/>
              </a:ext>
            </a:extLst>
          </p:cNvPr>
          <p:cNvSpPr>
            <a:spLocks noGrp="1"/>
          </p:cNvSpPr>
          <p:nvPr/>
        </p:nvSpPr>
        <p:spPr>
          <a:xfrm>
            <a:off x="638175" y="2028825"/>
            <a:ext cx="46863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19.2%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465EB3F6-F632-4F01-9523-2BD744D5DC5C}"/>
              </a:ext>
            </a:extLst>
          </p:cNvPr>
          <p:cNvSpPr>
            <a:spLocks noGrp="1"/>
          </p:cNvSpPr>
          <p:nvPr/>
        </p:nvSpPr>
        <p:spPr>
          <a:xfrm>
            <a:off x="695325" y="3228975"/>
            <a:ext cx="447675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of test no-shows appeared</a:t>
            </a:r>
          </a:p>
          <a:p>
            <a: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in the highest-risk 10%</a:t>
            </a:r>
          </a:p>
          <a:p>
            <a:pPr algn="l">
              <a:defRPr sz="232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of appointments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8809BF85-5054-4583-88CF-424EC6C1BF2C}"/>
              </a:ext>
            </a:extLst>
          </p:cNvPr>
          <p:cNvSpPr>
            <a:spLocks noGrp="1"/>
          </p:cNvSpPr>
          <p:nvPr/>
        </p:nvSpPr>
        <p:spPr>
          <a:xfrm>
            <a:off x="704850" y="4829175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1,160 priority appointments</a:t>
            </a:r>
          </a:p>
          <a:p>
            <a:pPr algn="l">
              <a:defRPr sz="2025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include 692 recorded no-shows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0815FED5-C4F5-415F-B631-596414116D8D}"/>
              </a:ext>
            </a:extLst>
          </p:cNvPr>
          <p:cNvSpPr>
            <a:spLocks noGrp="1"/>
          </p:cNvSpPr>
          <p:nvPr/>
        </p:nvSpPr>
        <p:spPr>
          <a:xfrm>
            <a:off x="6248400" y="1743075"/>
            <a:ext cx="5219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Proposed change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029A0DAD-3A4E-401E-B478-4C7B166C1D94}"/>
              </a:ext>
            </a:extLst>
          </p:cNvPr>
          <p:cNvSpPr>
            <a:spLocks noGrp="1"/>
          </p:cNvSpPr>
          <p:nvPr/>
        </p:nvSpPr>
        <p:spPr>
          <a:xfrm>
            <a:off x="6248400" y="2257425"/>
            <a:ext cx="52197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Compare usual reminders with risk-guided follow-up at the same contact budget.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8B667E29-4396-48CD-B601-26906F0D03A5}"/>
              </a:ext>
            </a:extLst>
          </p:cNvPr>
          <p:cNvSpPr>
            <a:spLocks noGrp="1"/>
          </p:cNvSpPr>
          <p:nvPr/>
        </p:nvSpPr>
        <p:spPr>
          <a:xfrm>
            <a:off x="6248400" y="3514725"/>
            <a:ext cx="5219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Benefit and success check</a:t>
            </a:r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F743F1ED-9FF0-409B-A04A-94E9B08CE5E1}"/>
              </a:ext>
            </a:extLst>
          </p:cNvPr>
          <p:cNvSpPr>
            <a:spLocks noGrp="1"/>
          </p:cNvSpPr>
          <p:nvPr/>
        </p:nvSpPr>
        <p:spPr>
          <a:xfrm>
            <a:off x="6248400" y="4029075"/>
            <a:ext cx="52197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Measure the no-show-rate difference,</a:t>
            </a:r>
          </a:p>
          <a:p>
            <a:pPr algn="l">
              <a:defRPr sz="2175" b="0">
                <a:solidFill>
                  <a:srgbClr val="14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13C"/>
                </a:solidFill>
                <a:latin typeface="Arial"/>
                <a:ea typeface="Arial"/>
                <a:cs typeface="Arial"/>
              </a:rPr>
              <a:t>staff contact time and subgroup gaps.</a:t>
            </a:r>
          </a:p>
        </p:txBody>
      </p:sp>
      <p:sp>
        <p:nvSpPr>
          <p:cNvPr id="10" name="text-10">
            <a:extLst>
              <a:ext uri="{FF2B5EF4-FFF2-40B4-BE49-F238E27FC236}">
                <a16:creationId xmlns:a16="http://schemas.microsoft.com/office/drawing/2014/main" id="{22587B52-BF53-4378-B9C7-C4BB92E2B685}"/>
              </a:ext>
            </a:extLst>
          </p:cNvPr>
          <p:cNvSpPr>
            <a:spLocks noGrp="1"/>
          </p:cNvSpPr>
          <p:nvPr/>
        </p:nvSpPr>
        <p:spPr>
          <a:xfrm>
            <a:off x="6248400" y="5381625"/>
            <a:ext cx="52197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Effort: medium to high.</a:t>
            </a:r>
          </a:p>
          <a:p>
            <a:pPr algn="l">
              <a:defRPr sz="1950" b="0">
                <a:solidFill>
                  <a:srgbClr val="5266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6E"/>
                </a:solidFill>
                <a:latin typeface="Arial"/>
                <a:ea typeface="Arial"/>
                <a:cs typeface="Arial"/>
              </a:rPr>
              <a:t>Needs clinic coordination and data controls.</a:t>
            </a:r>
          </a:p>
        </p:txBody>
      </p:sp>
    </p:spTree>
    <p:extLst>
      <p:ext uri="{BB962C8B-B14F-4D97-AF65-F5344CB8AC3E}">
        <p14:creationId xmlns:p14="http://schemas.microsoft.com/office/powerpoint/2010/main" val="145173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">
            <a:extLst>
              <a:ext uri="{FF2B5EF4-FFF2-40B4-BE49-F238E27FC236}">
                <a16:creationId xmlns:a16="http://schemas.microsoft.com/office/drawing/2014/main" id="{E7FADE50-6B3A-4402-A71C-B6E7A5D56E8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prototype with a measurable next step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FB8F9876-4126-4F8F-8627-4E5739E6BCA1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6096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BFD8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8D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94193163-B582-4C19-91BD-9F682804BC5D}"/>
              </a:ext>
            </a:extLst>
          </p:cNvPr>
          <p:cNvSpPr>
            <a:spLocks noGrp="1"/>
          </p:cNvSpPr>
          <p:nvPr/>
        </p:nvSpPr>
        <p:spPr>
          <a:xfrm>
            <a:off x="666750" y="191452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</a:p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model workflows and a local Streamlit application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21E02D44-11EF-45EB-AFA6-C5FB9F6CD2C9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DE4E6"/>
                </a:solidFill>
                <a:latin typeface="Arial"/>
                <a:ea typeface="Arial"/>
                <a:cs typeface="Arial"/>
              </a:rPr>
              <a:t>Measured outcome</a:t>
            </a:r>
          </a:p>
          <a:p>
            <a: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DE4E6"/>
                </a:solidFill>
                <a:latin typeface="Arial"/>
                <a:ea typeface="Arial"/>
                <a:cs typeface="Arial"/>
              </a:rPr>
              <a:t>Software works, but all four predictive goals remain unmet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E65653CD-130E-4575-858F-A99C536ECC25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106203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DE4E6"/>
                </a:solidFill>
                <a:latin typeface="Arial"/>
                <a:ea typeface="Arial"/>
                <a:cs typeface="Arial"/>
              </a:rPr>
              <a:t>Next step</a:t>
            </a:r>
          </a:p>
          <a:p>
            <a:pPr algn="l">
              <a:defRPr sz="2400" b="0">
                <a:solidFill>
                  <a:srgbClr val="CDE4E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DE4E6"/>
                </a:solidFill>
                <a:latin typeface="Arial"/>
                <a:ea typeface="Arial"/>
                <a:cs typeface="Arial"/>
              </a:rPr>
              <a:t>Verified data, a reproducible run and a genuinely future evaluation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79127AD2-C122-4330-A30D-882DE3F01EB6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85C9C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5C9C6"/>
                </a:solidFill>
                <a:latin typeface="Arial"/>
                <a:ea typeface="Arial"/>
                <a:cs typeface="Arial"/>
              </a:rPr>
              <a:t>Questions welcome</a:t>
            </a:r>
          </a:p>
        </p:txBody>
      </p:sp>
    </p:spTree>
    <p:extLst>
      <p:ext uri="{BB962C8B-B14F-4D97-AF65-F5344CB8AC3E}">
        <p14:creationId xmlns:p14="http://schemas.microsoft.com/office/powerpoint/2010/main" val="4087979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2949</Words>
  <Application>Microsoft Macintosh PowerPoint</Application>
  <DocSecurity>0</DocSecurity>
  <PresentationFormat>Widescreen</PresentationFormat>
  <Paragraphs>416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Sundharamurali Ramachandran</cp:lastModifiedBy>
  <cp:revision>1</cp:revision>
  <dcterms:created xsi:type="dcterms:W3CDTF">2026-10-26T19:04:01Z</dcterms:created>
  <dcterms:modified xsi:type="dcterms:W3CDTF">2026-10-26T19:11:31Z</dcterms:modified>
</cp:coreProperties>
</file>